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106" d="100"/>
          <a:sy n="106" d="100"/>
        </p:scale>
        <p:origin x="-108" y="-72"/>
      </p:cViewPr>
      <p:guideLst>
        <p:guide orient="horz" pos="218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</a:blip>
          <a:stretch/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 bwMode="auto">
          <a:xfrm>
            <a:off x="0" y="0"/>
            <a:ext cx="2305051" cy="6858001"/>
            <a:chOff x="0" y="0"/>
            <a:chExt cx="2305051" cy="6858001"/>
          </a:xfrm>
          <a:gradFill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 extrusionOk="0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 extrusionOk="0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 extrusionOk="0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 extrusionOk="0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7"/>
            </a:xfrm>
            <a:custGeom>
              <a:avLst/>
              <a:gdLst/>
              <a:ahLst/>
              <a:cxnLst/>
              <a:rect l="0" t="0" r="r" b="b"/>
              <a:pathLst>
                <a:path w="264" h="329" extrusionOk="0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 extrusionOk="0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 extrusionOk="0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4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 extrusionOk="0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49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 extrusionOk="0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 extrusionOk="0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 extrusionOk="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 extrusionOk="0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 extrusionOk="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 extrusionOk="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 extrusionOk="0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7" cy="160338"/>
            </a:xfrm>
            <a:custGeom>
              <a:avLst/>
              <a:gdLst/>
              <a:ahLst/>
              <a:cxnLst/>
              <a:rect l="0" t="0" r="r" b="b"/>
              <a:pathLst>
                <a:path w="35" h="34" extrusionOk="0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899"/>
            </a:xfrm>
            <a:custGeom>
              <a:avLst/>
              <a:gdLst/>
              <a:ahLst/>
              <a:cxnLst/>
              <a:rect l="0" t="0" r="r" b="b"/>
              <a:pathLst>
                <a:path w="402" h="2536" extrusionOk="0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 extrusionOk="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49"/>
            </a:xfrm>
            <a:custGeom>
              <a:avLst/>
              <a:gdLst/>
              <a:ahLst/>
              <a:cxnLst/>
              <a:rect l="0" t="0" r="r" b="b"/>
              <a:pathLst>
                <a:path w="23" h="23" extrusionOk="0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 extrusionOk="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4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 extrusionOk="0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 extrusionOk="0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 extrusionOk="0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 extrusionOk="0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 extrusionOk="0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4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 extrusionOk="0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 extrusionOk="0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2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 extrusionOk="0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 extrusionOk="0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 extrusionOk="0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 extrusionOk="0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7077511" y="5410201"/>
            <a:ext cx="2743200" cy="365125"/>
          </a:xfrm>
        </p:spPr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1876424" y="5410201"/>
            <a:ext cx="5124886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9896911" y="5410199"/>
            <a:ext cx="771089" cy="365125"/>
          </a:xfrm>
        </p:spPr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41410" y="2249486"/>
            <a:ext cx="4878389" cy="354171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2249486"/>
            <a:ext cx="4875211" cy="354171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41411" y="619126"/>
            <a:ext cx="9906000" cy="1477961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141410" y="3073397"/>
            <a:ext cx="4878390" cy="2717801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3073397"/>
            <a:ext cx="4875210" cy="2717801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46705" y="609601"/>
            <a:ext cx="3856037" cy="1639883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56200" y="592666"/>
            <a:ext cx="5891209" cy="5198534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анорамная фотография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подпис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Цитата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446212" y="609599"/>
            <a:ext cx="9302752" cy="274842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 bwMode="auto"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 bwMode="auto">
          <a:xfrm>
            <a:off x="903512" y="732394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61" name="TextBox 60"/>
          <p:cNvSpPr txBox="1"/>
          <p:nvPr/>
        </p:nvSpPr>
        <p:spPr bwMode="auto">
          <a:xfrm>
            <a:off x="10537370" y="2764972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арточка имен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ри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 bwMode="auto">
          <a:xfrm>
            <a:off x="1141413" y="609600"/>
            <a:ext cx="9905998" cy="1905000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 bwMode="auto"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514766" y="2677635"/>
            <a:ext cx="318438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 bwMode="auto"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 bwMode="auto"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олбец с тремя рисункам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 bwMode="auto">
          <a:xfrm>
            <a:off x="1141411" y="609600"/>
            <a:ext cx="9905999" cy="1905000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 bwMode="auto">
          <a:xfrm>
            <a:off x="1141413" y="2666998"/>
            <a:ext cx="3195240" cy="1524000"/>
          </a:xfrm>
          <a:prstGeom prst="round2DiagRect">
            <a:avLst>
              <a:gd name="adj1" fmla="val 16667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/>
            </a:lvl1pPr>
          </a:lstStyle>
          <a:p>
            <a:pPr marL="0" lvl="0" indent="0">
              <a:buNone/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 bwMode="auto"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 bwMode="auto">
          <a:xfrm>
            <a:off x="4489053" y="2666998"/>
            <a:ext cx="3198940" cy="1524000"/>
          </a:xfrm>
          <a:prstGeom prst="round2DiagRect">
            <a:avLst>
              <a:gd name="adj1" fmla="val 16667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/>
            </a:lvl1pPr>
          </a:lstStyle>
          <a:p>
            <a:pPr marL="0" lvl="0" indent="0">
              <a:buNone/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 bwMode="auto"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 bwMode="auto">
          <a:xfrm>
            <a:off x="7852442" y="2666998"/>
            <a:ext cx="3194969" cy="1524000"/>
          </a:xfrm>
          <a:prstGeom prst="round2DiagRect">
            <a:avLst>
              <a:gd name="adj1" fmla="val 16667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/>
            </a:lvl1pPr>
          </a:lstStyle>
          <a:p>
            <a:pPr marL="0" lvl="0" indent="0">
              <a:buNone/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 bwMode="auto"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042400" y="609599"/>
            <a:ext cx="2005011" cy="5181601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141410" y="609599"/>
            <a:ext cx="7748590" cy="5181601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A87A34-81AB-432B-8DAE-1953F412C126}" type="datetimeFigureOut">
              <a:rPr lang="en-US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</a:blip>
          <a:stretch/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8" name="Group 7"/>
          <p:cNvGrpSpPr/>
          <p:nvPr/>
        </p:nvGrpSpPr>
        <p:grpSpPr bwMode="auto"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 bwMode="auto">
            <a:xfrm>
              <a:off x="-14288" y="0"/>
              <a:ext cx="1220788" cy="6858001"/>
              <a:chOff x="-14288" y="0"/>
              <a:chExt cx="1220788" cy="6858001"/>
            </a:xfrm>
            <a:gradFill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 extrusionOk="0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 extrusionOk="0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 extrusionOk="0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 extrusionOk="0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 extrusionOk="0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 extrusionOk="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 extrusionOk="0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 extrusionOk="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49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 extrusionOk="0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 extrusionOk="0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 extrusionOk="0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4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 extrusionOk="0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 extrusionOk="0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2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 extrusionOk="0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 extrusionOk="0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10" name="Group 9"/>
            <p:cNvGrpSpPr/>
            <p:nvPr/>
          </p:nvGrpSpPr>
          <p:grpSpPr bwMode="auto">
            <a:xfrm>
              <a:off x="11364912" y="0"/>
              <a:ext cx="674688" cy="6848476"/>
              <a:chOff x="11364912" y="0"/>
              <a:chExt cx="674688" cy="6848476"/>
            </a:xfrm>
            <a:gradFill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 extrusionOk="0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 extrusionOk="0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599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 extrusionOk="0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 extrusionOk="0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 extrusionOk="0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4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 extrusionOk="0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8A87A34-81AB-432B-8DAE-1953F412C126}" type="datetimeFigureOut">
              <a:rPr lang="en-US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3600" cap="all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120000"/>
        </a:lnSpc>
        <a:spcBef>
          <a:spcPts val="1000"/>
        </a:spcBef>
        <a:buSzPct val="125000"/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120000"/>
        </a:lnSpc>
        <a:spcBef>
          <a:spcPts val="500"/>
        </a:spcBef>
        <a:buSzPct val="125000"/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120000"/>
        </a:lnSpc>
        <a:spcBef>
          <a:spcPts val="500"/>
        </a:spcBef>
        <a:buSzPct val="125000"/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120000"/>
        </a:lnSpc>
        <a:spcBef>
          <a:spcPts val="500"/>
        </a:spcBef>
        <a:buSzPct val="125000"/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120000"/>
        </a:lnSpc>
        <a:spcBef>
          <a:spcPts val="500"/>
        </a:spcBef>
        <a:buSzPct val="125000"/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120000"/>
        </a:lnSpc>
        <a:spcBef>
          <a:spcPts val="500"/>
        </a:spcBef>
        <a:buSzPct val="125000"/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120000"/>
        </a:lnSpc>
        <a:spcBef>
          <a:spcPts val="500"/>
        </a:spcBef>
        <a:buSzPct val="125000"/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120000"/>
        </a:lnSpc>
        <a:spcBef>
          <a:spcPts val="500"/>
        </a:spcBef>
        <a:buSzPct val="125000"/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120000"/>
        </a:lnSpc>
        <a:spcBef>
          <a:spcPts val="500"/>
        </a:spcBef>
        <a:buSzPct val="125000"/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2185986" y="809297"/>
            <a:ext cx="8650173" cy="2438399"/>
          </a:xfrm>
          <a:prstGeom prst="rect">
            <a:avLst/>
          </a:prstGeom>
          <a:ln>
            <a:noFill/>
          </a:ln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4400" b="1" cap="none">
                <a:latin typeface="Arial Narrow"/>
              </a:rPr>
              <a:t>ПРОГРАММИРОВАНИЕ В ЛИНГВИСТИКЕ</a:t>
            </a:r>
            <a:r>
              <a:rPr lang="ru-RU" cap="none">
                <a:latin typeface="Arial Narrow"/>
              </a:rPr>
              <a:t/>
            </a:r>
            <a:br>
              <a:rPr lang="ru-RU" cap="none">
                <a:latin typeface="Arial Narrow"/>
              </a:rPr>
            </a:br>
            <a:r>
              <a:rPr lang="ru-RU" sz="4000" b="1" cap="none">
                <a:latin typeface="Arial Narrow"/>
              </a:rPr>
              <a:t>Лекция 8</a:t>
            </a:r>
            <a:br>
              <a:rPr lang="ru-RU" sz="4000" b="1" cap="none">
                <a:latin typeface="Arial Narrow"/>
              </a:rPr>
            </a:br>
            <a:r>
              <a:rPr lang="ru-RU" sz="4000" b="1" cap="none">
                <a:latin typeface="Arial Narrow"/>
              </a:rPr>
              <a:t/>
            </a:r>
            <a:br>
              <a:rPr lang="ru-RU" sz="4000" b="1" cap="none">
                <a:latin typeface="Arial Narrow"/>
              </a:rPr>
            </a:br>
            <a:r>
              <a:rPr lang="ru-RU" sz="4700" b="1" cap="none">
                <a:solidFill>
                  <a:srgbClr val="002060"/>
                </a:solidFill>
                <a:latin typeface="Arial Black"/>
                <a:cs typeface="Arial"/>
              </a:rPr>
              <a:t>ОБЪЕКТЫ И КЛАССЫ</a:t>
            </a:r>
            <a:endParaRPr lang="ru-RU" sz="4700">
              <a:solidFill>
                <a:srgbClr val="002060"/>
              </a:solidFill>
              <a:latin typeface="Arial Black"/>
              <a:cs typeface="Arial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2270234" y="4025462"/>
            <a:ext cx="7956332" cy="1860330"/>
          </a:xfrm>
          <a:prstGeom prst="rect">
            <a:avLst/>
          </a:prstGeom>
          <a:solidFill>
            <a:schemeClr val="tx1"/>
          </a:solidFill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ru-RU" sz="2400" cap="none">
                <a:solidFill>
                  <a:srgbClr val="002060"/>
                </a:solidFill>
                <a:latin typeface="Arial"/>
                <a:cs typeface="Arial"/>
              </a:rPr>
              <a:t>Философия ООП. Парадигмы и преимущества</a:t>
            </a:r>
            <a:endParaRPr/>
          </a:p>
          <a:p>
            <a:pPr>
              <a:defRPr/>
            </a:pPr>
            <a:r>
              <a:rPr lang="ru-RU" sz="2400" cap="none">
                <a:solidFill>
                  <a:srgbClr val="002060"/>
                </a:solidFill>
                <a:latin typeface="Arial"/>
                <a:cs typeface="Arial"/>
              </a:rPr>
              <a:t>Атрибуты и методы класса. Конструкторы и деструкторы</a:t>
            </a:r>
            <a:endParaRPr/>
          </a:p>
          <a:p>
            <a:pPr>
              <a:defRPr/>
            </a:pPr>
            <a:r>
              <a:rPr lang="ru-RU" sz="2400" cap="none">
                <a:solidFill>
                  <a:srgbClr val="002060"/>
                </a:solidFill>
                <a:latin typeface="Arial"/>
                <a:cs typeface="Arial"/>
              </a:rPr>
              <a:t>Наследование. Проверка принадлежности классу </a:t>
            </a:r>
            <a:endParaRPr/>
          </a:p>
          <a:p>
            <a:pPr>
              <a:defRPr/>
            </a:pPr>
            <a:r>
              <a:rPr lang="ru-RU" sz="2400" cap="none">
                <a:solidFill>
                  <a:srgbClr val="002060"/>
                </a:solidFill>
                <a:latin typeface="Arial"/>
                <a:cs typeface="Arial"/>
              </a:rPr>
              <a:t>Инкапсуляция и абстракция. Полиморфизм и перегрузка</a:t>
            </a:r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141413" y="618518"/>
            <a:ext cx="9905998" cy="1042116"/>
          </a:xfrm>
        </p:spPr>
        <p:txBody>
          <a:bodyPr/>
          <a:lstStyle/>
          <a:p>
            <a:pPr>
              <a:defRPr/>
            </a:pPr>
            <a:r>
              <a:rPr lang="ru-RU" b="1" cap="none">
                <a:solidFill>
                  <a:srgbClr val="002060"/>
                </a:solidFill>
                <a:latin typeface="Arial Black"/>
                <a:cs typeface="Arial"/>
              </a:rPr>
              <a:t>Философия ООП в </a:t>
            </a:r>
            <a:r>
              <a:rPr lang="en-US" b="1" cap="none">
                <a:solidFill>
                  <a:srgbClr val="002060"/>
                </a:solidFill>
                <a:latin typeface="Arial Black"/>
                <a:cs typeface="Arial"/>
              </a:rPr>
              <a:t>Python</a:t>
            </a:r>
            <a:r>
              <a:rPr lang="ru-RU" b="1" cap="none">
                <a:solidFill>
                  <a:srgbClr val="002060"/>
                </a:solidFill>
                <a:latin typeface="Arial Black"/>
                <a:cs typeface="Arial"/>
              </a:rPr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1141412" y="1660634"/>
            <a:ext cx="9905999" cy="4130567"/>
          </a:xfrm>
          <a:prstGeom prst="rect">
            <a:avLst/>
          </a:prstGeom>
          <a:solidFill>
            <a:schemeClr val="tx1"/>
          </a:solidFill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 b="1">
                <a:solidFill>
                  <a:srgbClr val="002060"/>
                </a:solidFill>
                <a:latin typeface="Arial"/>
                <a:cs typeface="Arial"/>
              </a:rPr>
              <a:t>Объектно-ориентированный ЯП</a:t>
            </a:r>
            <a:r>
              <a:rPr lang="en-US">
                <a:solidFill>
                  <a:srgbClr val="002060"/>
                </a:solidFill>
                <a:latin typeface="Arial"/>
                <a:cs typeface="Arial"/>
              </a:rPr>
              <a:t> –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 все является объектами.</a:t>
            </a:r>
            <a:endParaRPr/>
          </a:p>
          <a:p>
            <a:pPr>
              <a:defRPr/>
            </a:pPr>
            <a:r>
              <a:rPr lang="ru-RU" b="1">
                <a:solidFill>
                  <a:srgbClr val="002060"/>
                </a:solidFill>
                <a:latin typeface="Arial"/>
                <a:cs typeface="Arial"/>
              </a:rPr>
              <a:t>Наследование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 – каждый объект производен от класса (типа) и наследует набор его характеристик. Одни классы производны от других.</a:t>
            </a:r>
          </a:p>
          <a:p>
            <a:pPr>
              <a:defRPr/>
            </a:pPr>
            <a:r>
              <a:rPr lang="ru-RU" b="1">
                <a:solidFill>
                  <a:srgbClr val="002060"/>
                </a:solidFill>
                <a:latin typeface="Arial"/>
                <a:cs typeface="Arial"/>
              </a:rPr>
              <a:t>Инкапсуляция 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– каждый объект формирует собственное пространство имен. Иерархический доступ к данным объекта.</a:t>
            </a:r>
          </a:p>
          <a:p>
            <a:pPr>
              <a:defRPr/>
            </a:pPr>
            <a:r>
              <a:rPr lang="ru-RU" b="1">
                <a:solidFill>
                  <a:srgbClr val="002060"/>
                </a:solidFill>
                <a:latin typeface="Arial"/>
                <a:cs typeface="Arial"/>
              </a:rPr>
              <a:t>Полиморфизм 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– объекты разных классов могут иметь схожие друг с другом интерфейсы. Доступна перегрузка.</a:t>
            </a:r>
          </a:p>
          <a:p>
            <a:pPr>
              <a:defRPr/>
            </a:pPr>
            <a:r>
              <a:rPr lang="ru-RU" b="1">
                <a:solidFill>
                  <a:srgbClr val="002060"/>
                </a:solidFill>
                <a:latin typeface="Arial"/>
                <a:cs typeface="Arial"/>
              </a:rPr>
              <a:t>Абстракция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 – при создании класс упрощается до тех характеристик, которые нужны именно в этом коде, а не описывается сразу весь.</a:t>
            </a:r>
            <a:endParaRPr/>
          </a:p>
          <a:p>
            <a:pPr>
              <a:defRPr/>
            </a:pPr>
            <a:endParaRPr lang="ru-RU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141411" y="861848"/>
            <a:ext cx="9906000" cy="56755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b="1" cap="none">
                <a:solidFill>
                  <a:srgbClr val="002060"/>
                </a:solidFill>
                <a:latin typeface="Arial Black"/>
                <a:cs typeface="Arial"/>
              </a:rPr>
              <a:t>Зачем нужно ООП? </a:t>
            </a:r>
            <a:endParaRPr lang="ru-RU">
              <a:solidFill>
                <a:srgbClr val="002060"/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 bwMode="auto">
          <a:xfrm>
            <a:off x="1222876" y="1860607"/>
            <a:ext cx="4649783" cy="420142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 b="1"/>
              <a:t>Структурный подход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 bwMode="auto">
          <a:xfrm>
            <a:off x="994267" y="2490952"/>
            <a:ext cx="4975609" cy="3300246"/>
          </a:xfrm>
          <a:prstGeom prst="rect">
            <a:avLst/>
          </a:prstGeom>
          <a:solidFill>
            <a:schemeClr val="tx1"/>
          </a:solidFill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Разделяет</a:t>
            </a:r>
            <a:r>
              <a:rPr lang="ru-RU">
                <a:solidFill>
                  <a:srgbClr val="F002C8"/>
                </a:solidFill>
                <a:latin typeface="Arial"/>
                <a:cs typeface="Arial"/>
              </a:rPr>
              <a:t> 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данные и логику</a:t>
            </a:r>
            <a:endParaRPr/>
          </a:p>
          <a:p>
            <a:pPr>
              <a:defRPr/>
            </a:pP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Иерархически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 организует код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Повторное использование кода только через </a:t>
            </a: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функции и модули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Лучше подходит для </a:t>
            </a: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линейных задач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 – упрощает понимание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"/>
          </p:nvPr>
        </p:nvSpPr>
        <p:spPr bwMode="auto">
          <a:xfrm>
            <a:off x="6327235" y="1860606"/>
            <a:ext cx="4646602" cy="420143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 b="1"/>
              <a:t>Объектный подход</a:t>
            </a:r>
          </a:p>
        </p:txBody>
      </p:sp>
      <p:sp>
        <p:nvSpPr>
          <p:cNvPr id="8" name="Объект 7"/>
          <p:cNvSpPr>
            <a:spLocks noGrp="1"/>
          </p:cNvSpPr>
          <p:nvPr>
            <p:ph sz="quarter" idx="4"/>
          </p:nvPr>
        </p:nvSpPr>
        <p:spPr bwMode="auto">
          <a:xfrm>
            <a:off x="6098627" y="2490952"/>
            <a:ext cx="5157952" cy="3300245"/>
          </a:xfrm>
          <a:prstGeom prst="rect">
            <a:avLst/>
          </a:prstGeom>
          <a:solidFill>
            <a:schemeClr val="tx1"/>
          </a:solidFill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Объекты </a:t>
            </a: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соединяют</a:t>
            </a:r>
            <a:r>
              <a:rPr lang="ru-RU">
                <a:solidFill>
                  <a:srgbClr val="F002C8"/>
                </a:solidFill>
                <a:latin typeface="Arial"/>
                <a:cs typeface="Arial"/>
              </a:rPr>
              <a:t> 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данные и поведение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Код организуется </a:t>
            </a: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вокруг данных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Повторное использование кода через классы (</a:t>
            </a: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полиморфизм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)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Подходит для </a:t>
            </a: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сложных систем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141413" y="618518"/>
            <a:ext cx="9905998" cy="1042116"/>
          </a:xfrm>
        </p:spPr>
        <p:txBody>
          <a:bodyPr/>
          <a:lstStyle/>
          <a:p>
            <a:pPr>
              <a:defRPr/>
            </a:pPr>
            <a:r>
              <a:rPr lang="ru-RU" b="1" cap="none">
                <a:solidFill>
                  <a:srgbClr val="002060"/>
                </a:solidFill>
                <a:latin typeface="Arial Black"/>
                <a:cs typeface="Arial"/>
              </a:rPr>
              <a:t>Что такое класс и объект класса?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1141412" y="1660634"/>
            <a:ext cx="9905999" cy="4130567"/>
          </a:xfrm>
          <a:prstGeom prst="rect">
            <a:avLst/>
          </a:prstGeom>
          <a:solidFill>
            <a:schemeClr val="tx1"/>
          </a:solidFill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ru-RU">
                <a:solidFill>
                  <a:srgbClr val="FF3300"/>
                </a:solidFill>
              </a:rPr>
              <a:t>Класс </a:t>
            </a:r>
            <a:r>
              <a:rPr lang="ru-RU">
                <a:solidFill>
                  <a:srgbClr val="002060"/>
                </a:solidFill>
              </a:rPr>
              <a:t>— это описание свойств и действий для будущих объектов.</a:t>
            </a:r>
            <a:endParaRPr/>
          </a:p>
          <a:p>
            <a:pPr>
              <a:defRPr/>
            </a:pPr>
            <a:r>
              <a:rPr lang="ru-RU">
                <a:solidFill>
                  <a:srgbClr val="FF3300"/>
                </a:solidFill>
              </a:rPr>
              <a:t>Объект (экземпляр) класса </a:t>
            </a:r>
            <a:r>
              <a:rPr lang="ru-RU">
                <a:solidFill>
                  <a:srgbClr val="002060"/>
                </a:solidFill>
              </a:rPr>
              <a:t>хранит данные и свойства, определённые в классе.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Класс можно представить как </a:t>
            </a:r>
            <a:r>
              <a:rPr lang="ru-RU">
                <a:solidFill>
                  <a:srgbClr val="FF3300"/>
                </a:solidFill>
              </a:rPr>
              <a:t>чертёж</a:t>
            </a:r>
            <a:r>
              <a:rPr lang="ru-RU">
                <a:solidFill>
                  <a:srgbClr val="002060"/>
                </a:solidFill>
              </a:rPr>
              <a:t>, а объект как </a:t>
            </a:r>
            <a:r>
              <a:rPr lang="ru-RU">
                <a:solidFill>
                  <a:srgbClr val="FF3300"/>
                </a:solidFill>
              </a:rPr>
              <a:t>дом</a:t>
            </a:r>
            <a:r>
              <a:rPr lang="ru-RU">
                <a:solidFill>
                  <a:srgbClr val="002060"/>
                </a:solidFill>
              </a:rPr>
              <a:t> по этому чертежу. Один и тот же чертёж позволяет построить </a:t>
            </a:r>
            <a:r>
              <a:rPr lang="ru-RU">
                <a:solidFill>
                  <a:srgbClr val="FF3300"/>
                </a:solidFill>
              </a:rPr>
              <a:t>много домов </a:t>
            </a:r>
            <a:r>
              <a:rPr lang="ru-RU">
                <a:solidFill>
                  <a:srgbClr val="002060"/>
                </a:solidFill>
              </a:rPr>
              <a:t>с разной отделкой и наполнением, но </a:t>
            </a:r>
            <a:r>
              <a:rPr lang="ru-RU">
                <a:solidFill>
                  <a:srgbClr val="FF3300"/>
                </a:solidFill>
              </a:rPr>
              <a:t>с общей структурой</a:t>
            </a:r>
            <a:r>
              <a:rPr lang="ru-RU">
                <a:solidFill>
                  <a:srgbClr val="002060"/>
                </a:solidFill>
              </a:rPr>
              <a:t>.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Все встроенные </a:t>
            </a:r>
            <a:r>
              <a:rPr lang="ru-RU">
                <a:solidFill>
                  <a:srgbClr val="FF3300"/>
                </a:solidFill>
              </a:rPr>
              <a:t>типы данных </a:t>
            </a:r>
            <a:r>
              <a:rPr lang="ru-RU">
                <a:solidFill>
                  <a:srgbClr val="002060"/>
                </a:solidFill>
              </a:rPr>
              <a:t>являются </a:t>
            </a:r>
            <a:r>
              <a:rPr lang="ru-RU">
                <a:solidFill>
                  <a:srgbClr val="FF3300"/>
                </a:solidFill>
              </a:rPr>
              <a:t>классами</a:t>
            </a:r>
            <a:r>
              <a:rPr lang="ru-RU">
                <a:solidFill>
                  <a:srgbClr val="002060"/>
                </a:solidFill>
              </a:rPr>
              <a:t>!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При этом все </a:t>
            </a:r>
            <a:r>
              <a:rPr lang="ru-RU">
                <a:solidFill>
                  <a:srgbClr val="FF3300"/>
                </a:solidFill>
              </a:rPr>
              <a:t>классы</a:t>
            </a:r>
            <a:r>
              <a:rPr lang="ru-RU">
                <a:solidFill>
                  <a:srgbClr val="002060"/>
                </a:solidFill>
              </a:rPr>
              <a:t> сами являются экземплярами типа </a:t>
            </a:r>
            <a:r>
              <a:rPr lang="en-US">
                <a:solidFill>
                  <a:srgbClr val="FF3300"/>
                </a:solidFill>
              </a:rPr>
              <a:t>Object</a:t>
            </a:r>
            <a:r>
              <a:rPr lang="en-US">
                <a:solidFill>
                  <a:srgbClr val="002060"/>
                </a:solidFill>
              </a:rPr>
              <a:t>.</a:t>
            </a:r>
            <a:endParaRPr lang="ru-RU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141413" y="618518"/>
            <a:ext cx="9905998" cy="1042116"/>
          </a:xfrm>
        </p:spPr>
        <p:txBody>
          <a:bodyPr/>
          <a:lstStyle/>
          <a:p>
            <a:pPr>
              <a:defRPr/>
            </a:pPr>
            <a:r>
              <a:rPr lang="ru-RU" b="1" cap="none">
                <a:solidFill>
                  <a:srgbClr val="002060"/>
                </a:solidFill>
                <a:latin typeface="Arial Black"/>
                <a:cs typeface="Arial"/>
              </a:rPr>
              <a:t>Атрибуты и методы класса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1141412" y="1660634"/>
            <a:ext cx="9905999" cy="4130567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rgbClr val="FF0000"/>
                </a:solidFill>
              </a:rPr>
              <a:t>Атрибуты</a:t>
            </a:r>
            <a:r>
              <a:rPr lang="ru-RU">
                <a:solidFill>
                  <a:srgbClr val="002060"/>
                </a:solidFill>
              </a:rPr>
              <a:t> класса – это </a:t>
            </a:r>
            <a:r>
              <a:rPr lang="ru-RU">
                <a:solidFill>
                  <a:srgbClr val="FF3300"/>
                </a:solidFill>
              </a:rPr>
              <a:t>свойства</a:t>
            </a:r>
            <a:r>
              <a:rPr lang="ru-RU">
                <a:solidFill>
                  <a:srgbClr val="002060"/>
                </a:solidFill>
              </a:rPr>
              <a:t>, которыми обладает каждый объект этого класса (</a:t>
            </a:r>
            <a:r>
              <a:rPr lang="ru-RU">
                <a:solidFill>
                  <a:srgbClr val="FF3300"/>
                </a:solidFill>
              </a:rPr>
              <a:t>данные</a:t>
            </a:r>
            <a:r>
              <a:rPr lang="ru-RU">
                <a:solidFill>
                  <a:srgbClr val="002060"/>
                </a:solidFill>
              </a:rPr>
              <a:t>).</a:t>
            </a:r>
            <a:endParaRPr/>
          </a:p>
          <a:p>
            <a:pPr>
              <a:defRPr/>
            </a:pPr>
            <a:r>
              <a:rPr lang="ru-RU">
                <a:solidFill>
                  <a:srgbClr val="FF0000"/>
                </a:solidFill>
              </a:rPr>
              <a:t>Методы</a:t>
            </a:r>
            <a:r>
              <a:rPr lang="ru-RU">
                <a:solidFill>
                  <a:srgbClr val="002060"/>
                </a:solidFill>
              </a:rPr>
              <a:t> класса – это </a:t>
            </a:r>
            <a:r>
              <a:rPr lang="ru-RU">
                <a:solidFill>
                  <a:srgbClr val="FF3300"/>
                </a:solidFill>
              </a:rPr>
              <a:t>действия</a:t>
            </a:r>
            <a:r>
              <a:rPr lang="ru-RU">
                <a:solidFill>
                  <a:srgbClr val="002060"/>
                </a:solidFill>
              </a:rPr>
              <a:t>, которые способен совершать каждый объект этого класса (</a:t>
            </a:r>
            <a:r>
              <a:rPr lang="ru-RU">
                <a:solidFill>
                  <a:srgbClr val="FF3300"/>
                </a:solidFill>
              </a:rPr>
              <a:t>операции</a:t>
            </a:r>
            <a:r>
              <a:rPr lang="ru-RU">
                <a:solidFill>
                  <a:srgbClr val="002060"/>
                </a:solidFill>
              </a:rPr>
              <a:t>).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И методы, и атрибуты привязаны к </a:t>
            </a:r>
            <a:r>
              <a:rPr lang="ru-RU">
                <a:solidFill>
                  <a:srgbClr val="FF0000"/>
                </a:solidFill>
              </a:rPr>
              <a:t>конкретному объекту </a:t>
            </a:r>
            <a:r>
              <a:rPr lang="ru-RU">
                <a:solidFill>
                  <a:srgbClr val="002060"/>
                </a:solidFill>
              </a:rPr>
              <a:t>и доступны только со ссылкой на него (</a:t>
            </a:r>
            <a:r>
              <a:rPr lang="en-US">
                <a:solidFill>
                  <a:srgbClr val="FF0000"/>
                </a:solidFill>
              </a:rPr>
              <a:t>self</a:t>
            </a:r>
            <a:r>
              <a:rPr lang="ru-RU">
                <a:solidFill>
                  <a:srgbClr val="002060"/>
                </a:solidFill>
              </a:rPr>
              <a:t>).</a:t>
            </a:r>
            <a:endParaRPr lang="en-US">
              <a:solidFill>
                <a:srgbClr val="002060"/>
              </a:solidFill>
            </a:endParaRPr>
          </a:p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Эта ссылка нужна, чтобы метод мог обращаться к атрибутам и другим методам </a:t>
            </a:r>
            <a:r>
              <a:rPr lang="ru-RU">
                <a:solidFill>
                  <a:srgbClr val="FF0000"/>
                </a:solidFill>
              </a:rPr>
              <a:t>того же объекта</a:t>
            </a:r>
            <a:r>
              <a:rPr lang="ru-RU">
                <a:solidFill>
                  <a:srgbClr val="002060"/>
                </a:solidFill>
              </a:rPr>
              <a:t> («узнавал» себя).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141413" y="618518"/>
            <a:ext cx="9905998" cy="1136710"/>
          </a:xfrm>
        </p:spPr>
        <p:txBody>
          <a:bodyPr/>
          <a:lstStyle/>
          <a:p>
            <a:pPr>
              <a:defRPr/>
            </a:pPr>
            <a:r>
              <a:rPr lang="ru-RU" cap="none">
                <a:solidFill>
                  <a:srgbClr val="002060"/>
                </a:solidFill>
                <a:latin typeface="Arial Black"/>
              </a:rPr>
              <a:t>Определение класса в </a:t>
            </a:r>
            <a:r>
              <a:rPr lang="en-US" cap="none">
                <a:solidFill>
                  <a:srgbClr val="002060"/>
                </a:solidFill>
                <a:latin typeface="Arial Black"/>
              </a:rPr>
              <a:t>Python</a:t>
            </a:r>
            <a:endParaRPr lang="ru-RU" cap="none">
              <a:solidFill>
                <a:srgbClr val="002060"/>
              </a:solidFill>
              <a:latin typeface="Arial Black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1141410" y="3050628"/>
            <a:ext cx="4954590" cy="2740572"/>
          </a:xfrm>
          <a:prstGeom prst="rect">
            <a:avLst/>
          </a:prstGeom>
          <a:solidFill>
            <a:schemeClr val="tx1"/>
          </a:solidFill>
        </p:spPr>
        <p:txBody>
          <a:bodyPr>
            <a:normAutofit fontScale="92500"/>
          </a:bodyPr>
          <a:lstStyle/>
          <a:p>
            <a:pPr marL="0" indent="0">
              <a:buNone/>
              <a:defRPr/>
            </a:pP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* Согласно</a:t>
            </a:r>
            <a:r>
              <a:rPr lang="en-US">
                <a:solidFill>
                  <a:srgbClr val="002060"/>
                </a:solidFill>
                <a:latin typeface="Arial"/>
                <a:cs typeface="Arial"/>
              </a:rPr>
              <a:t> PEP8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, имя </a:t>
            </a: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класса 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записывается в </a:t>
            </a:r>
            <a:r>
              <a:rPr lang="en-US">
                <a:solidFill>
                  <a:srgbClr val="FF3300"/>
                </a:solidFill>
                <a:latin typeface="Arial"/>
                <a:cs typeface="Arial"/>
              </a:rPr>
              <a:t>CamelCase</a:t>
            </a:r>
            <a:r>
              <a:rPr lang="en-US">
                <a:solidFill>
                  <a:srgbClr val="002060"/>
                </a:solidFill>
                <a:latin typeface="Arial"/>
                <a:cs typeface="Arial"/>
              </a:rPr>
              <a:t>.</a:t>
            </a:r>
            <a:endParaRPr lang="ru-RU">
              <a:solidFill>
                <a:srgbClr val="002060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* Имя </a:t>
            </a: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объекта</a:t>
            </a:r>
            <a:r>
              <a:rPr lang="ru-RU">
                <a:latin typeface="Arial"/>
                <a:cs typeface="Arial"/>
              </a:rPr>
              <a:t> 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класса – в </a:t>
            </a:r>
            <a:r>
              <a:rPr lang="en-US">
                <a:solidFill>
                  <a:srgbClr val="FF3300"/>
                </a:solidFill>
                <a:latin typeface="Arial"/>
                <a:cs typeface="Arial"/>
              </a:rPr>
              <a:t>snake_case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, как обычная переменная (</a:t>
            </a: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чтобы отличать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)</a:t>
            </a:r>
            <a:r>
              <a:rPr lang="en-US">
                <a:solidFill>
                  <a:srgbClr val="002060"/>
                </a:solidFill>
                <a:latin typeface="Arial"/>
                <a:cs typeface="Arial"/>
              </a:rPr>
              <a:t>.</a:t>
            </a:r>
            <a:endParaRPr lang="ru-RU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337738" y="1932046"/>
            <a:ext cx="4709673" cy="3859154"/>
          </a:xfrm>
          <a:prstGeom prst="rect">
            <a:avLst/>
          </a:prstGeom>
          <a:noFill/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ru-RU"/>
              <a:t>Управляющее слово </a:t>
            </a:r>
            <a:r>
              <a:rPr lang="en-US">
                <a:solidFill>
                  <a:srgbClr val="FF3300"/>
                </a:solidFill>
              </a:rPr>
              <a:t>class </a:t>
            </a:r>
            <a:r>
              <a:rPr lang="ru-RU"/>
              <a:t>говорит, что перед нами определение класса.</a:t>
            </a:r>
            <a:endParaRPr/>
          </a:p>
          <a:p>
            <a:pPr>
              <a:defRPr/>
            </a:pPr>
            <a:r>
              <a:rPr lang="ru-RU"/>
              <a:t>Одни классы (</a:t>
            </a:r>
            <a:r>
              <a:rPr lang="ru-RU">
                <a:solidFill>
                  <a:srgbClr val="FF3300"/>
                </a:solidFill>
              </a:rPr>
              <a:t>дочерние</a:t>
            </a:r>
            <a:r>
              <a:rPr lang="ru-RU"/>
              <a:t>) можно определять на основе других (</a:t>
            </a:r>
            <a:r>
              <a:rPr lang="ru-RU">
                <a:solidFill>
                  <a:srgbClr val="FF3300"/>
                </a:solidFill>
              </a:rPr>
              <a:t>родительских</a:t>
            </a:r>
            <a:r>
              <a:rPr lang="ru-RU"/>
              <a:t>).</a:t>
            </a:r>
            <a:endParaRPr/>
          </a:p>
          <a:p>
            <a:pPr>
              <a:defRPr/>
            </a:pPr>
            <a:r>
              <a:rPr lang="ru-RU"/>
              <a:t>Тогда в скобках пишем имя родительского класса.</a:t>
            </a:r>
            <a:endParaRPr/>
          </a:p>
          <a:p>
            <a:pPr>
              <a:defRPr/>
            </a:pPr>
            <a:endParaRPr lang="ru-RU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1141410" y="1932046"/>
            <a:ext cx="4954590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>
                <a:solidFill>
                  <a:srgbClr val="00B0F0"/>
                </a:solidFill>
                <a:latin typeface="Arial"/>
                <a:cs typeface="Arial"/>
              </a:rPr>
              <a:t>class</a:t>
            </a:r>
            <a:r>
              <a:rPr lang="en-US" sz="24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2400">
                <a:latin typeface="Arial"/>
                <a:cs typeface="Arial"/>
              </a:rPr>
              <a:t>&lt;ClassName</a:t>
            </a:r>
            <a:r>
              <a:rPr lang="ru-RU" sz="2400">
                <a:latin typeface="Arial"/>
                <a:cs typeface="Arial"/>
              </a:rPr>
              <a:t>&gt;: </a:t>
            </a:r>
            <a:endParaRPr lang="en-US" sz="2400">
              <a:latin typeface="Arial"/>
              <a:cs typeface="Arial"/>
            </a:endParaRPr>
          </a:p>
          <a:p>
            <a:pPr>
              <a:defRPr/>
            </a:pPr>
            <a:r>
              <a:rPr lang="en-US" sz="2400">
                <a:latin typeface="Arial"/>
                <a:cs typeface="Arial"/>
              </a:rPr>
              <a:t>       </a:t>
            </a:r>
            <a:r>
              <a:rPr lang="ru-RU" sz="2400">
                <a:latin typeface="Arial"/>
                <a:cs typeface="Arial"/>
              </a:rPr>
              <a:t>&lt;</a:t>
            </a:r>
            <a:r>
              <a:rPr lang="en-US" sz="2400">
                <a:latin typeface="Arial"/>
                <a:cs typeface="Arial"/>
              </a:rPr>
              <a:t>class description</a:t>
            </a:r>
            <a:r>
              <a:rPr lang="ru-RU" sz="2400">
                <a:latin typeface="Arial"/>
                <a:cs typeface="Arial"/>
              </a:rPr>
              <a:t>&gt;</a:t>
            </a:r>
            <a:endParaRPr lang="en-US" sz="24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141413" y="618518"/>
            <a:ext cx="9905998" cy="1136710"/>
          </a:xfrm>
        </p:spPr>
        <p:txBody>
          <a:bodyPr/>
          <a:lstStyle/>
          <a:p>
            <a:pPr>
              <a:defRPr/>
            </a:pPr>
            <a:r>
              <a:rPr lang="ru-RU" cap="none">
                <a:solidFill>
                  <a:srgbClr val="002060"/>
                </a:solidFill>
                <a:latin typeface="Arial Black"/>
              </a:rPr>
              <a:t>Создание объекта класса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1141410" y="2570529"/>
            <a:ext cx="4954590" cy="3220671"/>
          </a:xfrm>
          <a:prstGeom prst="rect">
            <a:avLst/>
          </a:prstGeom>
          <a:solidFill>
            <a:schemeClr val="tx1"/>
          </a:solidFill>
        </p:spPr>
        <p:txBody>
          <a:bodyPr>
            <a:normAutofit fontScale="92500"/>
          </a:bodyPr>
          <a:lstStyle/>
          <a:p>
            <a:pPr marL="0" indent="0">
              <a:buNone/>
              <a:defRPr/>
            </a:pP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* Создаем объект </a:t>
            </a:r>
            <a:r>
              <a:rPr lang="en-US">
                <a:solidFill>
                  <a:srgbClr val="002060"/>
                </a:solidFill>
                <a:latin typeface="Arial"/>
                <a:cs typeface="Arial"/>
              </a:rPr>
              <a:t>vasya 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класса </a:t>
            </a:r>
            <a:r>
              <a:rPr lang="en-US">
                <a:solidFill>
                  <a:srgbClr val="002060"/>
                </a:solidFill>
                <a:latin typeface="Arial"/>
                <a:cs typeface="Arial"/>
              </a:rPr>
              <a:t>Student.</a:t>
            </a:r>
            <a:endParaRPr/>
          </a:p>
          <a:p>
            <a:pPr marL="0" indent="0">
              <a:buNone/>
              <a:defRPr/>
            </a:pPr>
            <a:r>
              <a:rPr lang="en-US">
                <a:solidFill>
                  <a:srgbClr val="002060"/>
                </a:solidFill>
                <a:latin typeface="Arial"/>
                <a:cs typeface="Arial"/>
              </a:rPr>
              <a:t>* 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Значение </a:t>
            </a:r>
            <a:r>
              <a:rPr lang="en-US">
                <a:solidFill>
                  <a:srgbClr val="002060"/>
                </a:solidFill>
                <a:latin typeface="Arial"/>
                <a:cs typeface="Arial"/>
              </a:rPr>
              <a:t>‘Vasya’ 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передаем в атрибут </a:t>
            </a:r>
            <a:r>
              <a:rPr lang="en-US">
                <a:solidFill>
                  <a:srgbClr val="002060"/>
                </a:solidFill>
                <a:latin typeface="Arial"/>
                <a:cs typeface="Arial"/>
              </a:rPr>
              <a:t>name, 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а значение </a:t>
            </a:r>
            <a:r>
              <a:rPr lang="en-US">
                <a:solidFill>
                  <a:srgbClr val="002060"/>
                </a:solidFill>
                <a:latin typeface="Arial"/>
                <a:cs typeface="Arial"/>
              </a:rPr>
              <a:t>123 – 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в атрибут </a:t>
            </a:r>
            <a:r>
              <a:rPr lang="en-US">
                <a:solidFill>
                  <a:srgbClr val="002060"/>
                </a:solidFill>
                <a:latin typeface="Arial"/>
                <a:cs typeface="Arial"/>
              </a:rPr>
              <a:t>group.</a:t>
            </a:r>
            <a:endParaRPr/>
          </a:p>
          <a:p>
            <a:pPr marL="0" indent="0">
              <a:buNone/>
              <a:defRPr/>
            </a:pP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* </a:t>
            </a:r>
            <a:r>
              <a:rPr lang="en-US">
                <a:solidFill>
                  <a:schemeClr val="accent2">
                    <a:lumMod val="50000"/>
                  </a:schemeClr>
                </a:solidFill>
                <a:latin typeface="Arial"/>
                <a:cs typeface="Arial"/>
              </a:rPr>
              <a:t>type</a:t>
            </a:r>
            <a:r>
              <a:rPr lang="en-US">
                <a:solidFill>
                  <a:srgbClr val="0070C0"/>
                </a:solidFill>
                <a:latin typeface="Arial"/>
                <a:cs typeface="Arial"/>
              </a:rPr>
              <a:t>(</a:t>
            </a:r>
            <a:r>
              <a:rPr lang="en-US">
                <a:solidFill>
                  <a:schemeClr val="bg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vasya</a:t>
            </a:r>
            <a:r>
              <a:rPr lang="en-US">
                <a:solidFill>
                  <a:srgbClr val="0070C0"/>
                </a:solidFill>
                <a:latin typeface="Arial"/>
                <a:cs typeface="Arial"/>
              </a:rPr>
              <a:t>)</a:t>
            </a:r>
            <a:r>
              <a:rPr lang="en-US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>
                <a:solidFill>
                  <a:schemeClr val="bg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==</a:t>
            </a:r>
            <a:r>
              <a:rPr lang="en-US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Student</a:t>
            </a:r>
            <a:endParaRPr lang="ru-RU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337738" y="1932046"/>
            <a:ext cx="4834759" cy="3859154"/>
          </a:xfrm>
          <a:prstGeom prst="rect">
            <a:avLst/>
          </a:prstGeom>
          <a:noFill/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ru-RU"/>
              <a:t>При создании объекта класса конструктор проверяет, все ли </a:t>
            </a:r>
            <a:r>
              <a:rPr lang="ru-RU">
                <a:solidFill>
                  <a:srgbClr val="FF3300"/>
                </a:solidFill>
              </a:rPr>
              <a:t>обязательные поля </a:t>
            </a:r>
            <a:r>
              <a:rPr lang="ru-RU"/>
              <a:t>заполнены</a:t>
            </a:r>
            <a:endParaRPr/>
          </a:p>
          <a:p>
            <a:pPr>
              <a:defRPr/>
            </a:pPr>
            <a:r>
              <a:rPr lang="ru-RU"/>
              <a:t>Если конструктор задан без параметров, или указано </a:t>
            </a:r>
            <a:r>
              <a:rPr lang="ru-RU">
                <a:solidFill>
                  <a:srgbClr val="FF3300"/>
                </a:solidFill>
              </a:rPr>
              <a:t>значение по умолчанию</a:t>
            </a:r>
            <a:r>
              <a:rPr lang="ru-RU"/>
              <a:t>, то при создании объекта можно ничего не передавать.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141410" y="1932046"/>
            <a:ext cx="4954590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>
                <a:latin typeface="Arial"/>
                <a:cs typeface="Arial"/>
              </a:rPr>
              <a:t>vasya = Student(‘Vasya’, 123)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141413" y="618518"/>
            <a:ext cx="9905998" cy="1136710"/>
          </a:xfrm>
        </p:spPr>
        <p:txBody>
          <a:bodyPr/>
          <a:lstStyle/>
          <a:p>
            <a:pPr>
              <a:defRPr/>
            </a:pPr>
            <a:r>
              <a:rPr lang="ru-RU" cap="none">
                <a:solidFill>
                  <a:srgbClr val="002060"/>
                </a:solidFill>
                <a:latin typeface="Arial Black"/>
              </a:rPr>
              <a:t>Удаление объекта класса</a:t>
            </a:r>
            <a:endParaRPr lang="ru-RU" cap="none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1141410" y="1932046"/>
            <a:ext cx="4954590" cy="3859154"/>
          </a:xfrm>
          <a:prstGeom prst="rect">
            <a:avLst/>
          </a:prstGeom>
          <a:solidFill>
            <a:schemeClr val="tx1"/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2200">
                <a:solidFill>
                  <a:srgbClr val="0070C0"/>
                </a:solidFill>
                <a:latin typeface="Arial"/>
                <a:cs typeface="Arial"/>
              </a:rPr>
              <a:t>class </a:t>
            </a: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Human:</a:t>
            </a:r>
            <a:endParaRPr/>
          </a:p>
          <a:p>
            <a:pPr marL="0" indent="0">
              <a:buNone/>
              <a:defRPr/>
            </a:pP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       </a:t>
            </a:r>
            <a:r>
              <a:rPr lang="en-US" sz="2200">
                <a:solidFill>
                  <a:srgbClr val="0070C0"/>
                </a:solidFill>
                <a:latin typeface="Arial"/>
                <a:cs typeface="Arial"/>
              </a:rPr>
              <a:t>def</a:t>
            </a: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2200">
                <a:solidFill>
                  <a:srgbClr val="7030A0"/>
                </a:solidFill>
                <a:latin typeface="Arial"/>
                <a:cs typeface="Arial"/>
              </a:rPr>
              <a:t>__init__</a:t>
            </a:r>
            <a:r>
              <a:rPr lang="en-US" sz="2200">
                <a:solidFill>
                  <a:srgbClr val="0070C0"/>
                </a:solidFill>
                <a:latin typeface="Arial"/>
                <a:cs typeface="Arial"/>
              </a:rPr>
              <a:t>(</a:t>
            </a:r>
            <a:r>
              <a:rPr lang="en-US" sz="2200">
                <a:solidFill>
                  <a:srgbClr val="7030A0"/>
                </a:solidFill>
                <a:latin typeface="Arial"/>
                <a:cs typeface="Arial"/>
              </a:rPr>
              <a:t>self</a:t>
            </a: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, name</a:t>
            </a:r>
            <a:r>
              <a:rPr lang="en-US" sz="2200">
                <a:solidFill>
                  <a:srgbClr val="0070C0"/>
                </a:solidFill>
                <a:latin typeface="Arial"/>
                <a:cs typeface="Arial"/>
              </a:rPr>
              <a:t>)</a:t>
            </a: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:</a:t>
            </a:r>
            <a:endParaRPr/>
          </a:p>
          <a:p>
            <a:pPr marL="0" indent="0">
              <a:buNone/>
              <a:defRPr/>
            </a:pP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	</a:t>
            </a:r>
            <a:r>
              <a:rPr lang="en-US" sz="2200">
                <a:solidFill>
                  <a:srgbClr val="7030A0"/>
                </a:solidFill>
                <a:latin typeface="Arial"/>
                <a:cs typeface="Arial"/>
              </a:rPr>
              <a:t>self</a:t>
            </a: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.name = name</a:t>
            </a:r>
            <a:endParaRPr/>
          </a:p>
          <a:p>
            <a:pPr marL="0" indent="0">
              <a:buNone/>
              <a:defRPr/>
            </a:pPr>
            <a:r>
              <a:rPr lang="en-US" sz="2200">
                <a:solidFill>
                  <a:srgbClr val="0070C0"/>
                </a:solidFill>
                <a:latin typeface="Arial"/>
                <a:cs typeface="Arial"/>
              </a:rPr>
              <a:t>       def</a:t>
            </a: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2200">
                <a:solidFill>
                  <a:srgbClr val="7030A0"/>
                </a:solidFill>
                <a:latin typeface="Arial"/>
                <a:cs typeface="Arial"/>
              </a:rPr>
              <a:t>__del__</a:t>
            </a:r>
            <a:r>
              <a:rPr lang="en-US" sz="2200">
                <a:solidFill>
                  <a:srgbClr val="0070C0"/>
                </a:solidFill>
                <a:latin typeface="Arial"/>
                <a:cs typeface="Arial"/>
              </a:rPr>
              <a:t>(</a:t>
            </a:r>
            <a:r>
              <a:rPr lang="en-US" sz="2200">
                <a:solidFill>
                  <a:srgbClr val="7030A0"/>
                </a:solidFill>
                <a:latin typeface="Arial"/>
                <a:cs typeface="Arial"/>
              </a:rPr>
              <a:t>self</a:t>
            </a:r>
            <a:r>
              <a:rPr lang="en-US" sz="2200">
                <a:solidFill>
                  <a:srgbClr val="0070C0"/>
                </a:solidFill>
                <a:latin typeface="Arial"/>
                <a:cs typeface="Arial"/>
              </a:rPr>
              <a:t>)</a:t>
            </a: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:</a:t>
            </a:r>
          </a:p>
          <a:p>
            <a:pPr marL="0" indent="0">
              <a:buNone/>
              <a:defRPr/>
            </a:pP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	</a:t>
            </a:r>
            <a:r>
              <a:rPr lang="en-US" sz="2200">
                <a:solidFill>
                  <a:schemeClr val="accent2">
                    <a:lumMod val="50000"/>
                  </a:schemeClr>
                </a:solidFill>
                <a:latin typeface="Arial"/>
                <a:cs typeface="Arial"/>
              </a:rPr>
              <a:t>print</a:t>
            </a:r>
            <a:r>
              <a:rPr lang="en-US" sz="2200">
                <a:solidFill>
                  <a:srgbClr val="0070C0"/>
                </a:solidFill>
                <a:latin typeface="Arial"/>
                <a:cs typeface="Arial"/>
              </a:rPr>
              <a:t>(</a:t>
            </a:r>
            <a:r>
              <a:rPr lang="en-US" sz="2200">
                <a:solidFill>
                  <a:srgbClr val="C00000"/>
                </a:solidFill>
                <a:latin typeface="Arial"/>
                <a:cs typeface="Arial"/>
              </a:rPr>
              <a:t>f”</a:t>
            </a:r>
            <a:r>
              <a:rPr lang="en-US" sz="2200">
                <a:solidFill>
                  <a:srgbClr val="0070C0"/>
                </a:solidFill>
                <a:latin typeface="Arial"/>
                <a:cs typeface="Arial"/>
              </a:rPr>
              <a:t>{</a:t>
            </a:r>
            <a:r>
              <a:rPr lang="en-US" sz="2200">
                <a:solidFill>
                  <a:srgbClr val="7030A0"/>
                </a:solidFill>
                <a:latin typeface="Arial"/>
                <a:cs typeface="Arial"/>
              </a:rPr>
              <a:t>self</a:t>
            </a: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.name</a:t>
            </a:r>
            <a:r>
              <a:rPr lang="en-US" sz="2200">
                <a:solidFill>
                  <a:srgbClr val="0070C0"/>
                </a:solidFill>
                <a:latin typeface="Arial"/>
                <a:cs typeface="Arial"/>
              </a:rPr>
              <a:t>}</a:t>
            </a: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ru-RU" sz="2200">
                <a:solidFill>
                  <a:srgbClr val="C00000"/>
                </a:solidFill>
                <a:latin typeface="Arial"/>
                <a:cs typeface="Arial"/>
              </a:rPr>
              <a:t>уничтожен</a:t>
            </a:r>
            <a:r>
              <a:rPr lang="en-US" sz="2200">
                <a:solidFill>
                  <a:srgbClr val="C00000"/>
                </a:solidFill>
                <a:latin typeface="Arial"/>
                <a:cs typeface="Arial"/>
              </a:rPr>
              <a:t>”</a:t>
            </a:r>
            <a:r>
              <a:rPr lang="en-US" sz="2200">
                <a:solidFill>
                  <a:srgbClr val="0070C0"/>
                </a:solidFill>
                <a:latin typeface="Arial"/>
                <a:cs typeface="Arial"/>
              </a:rPr>
              <a:t>)</a:t>
            </a:r>
          </a:p>
          <a:p>
            <a:pPr marL="0" indent="0">
              <a:buNone/>
              <a:defRPr/>
            </a:pPr>
            <a:endParaRPr lang="en-US" sz="220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vasya = Human(</a:t>
            </a:r>
            <a:r>
              <a:rPr lang="en-US" sz="2200">
                <a:solidFill>
                  <a:srgbClr val="C00000"/>
                </a:solidFill>
                <a:latin typeface="Arial"/>
                <a:cs typeface="Arial"/>
              </a:rPr>
              <a:t>‘Vasya’</a:t>
            </a: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)</a:t>
            </a:r>
            <a:endParaRPr/>
          </a:p>
          <a:p>
            <a:pPr marL="0" indent="0">
              <a:buNone/>
              <a:defRPr/>
            </a:pPr>
            <a:r>
              <a:rPr lang="en-US" sz="2200">
                <a:solidFill>
                  <a:srgbClr val="0070C0"/>
                </a:solidFill>
                <a:latin typeface="Arial"/>
                <a:cs typeface="Arial"/>
              </a:rPr>
              <a:t>del</a:t>
            </a: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 vasya</a:t>
            </a:r>
          </a:p>
          <a:p>
            <a:pPr marL="0" indent="0">
              <a:buNone/>
              <a:defRPr/>
            </a:pPr>
            <a:endParaRPr lang="en-US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endParaRPr lang="ru-RU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337738" y="1932046"/>
            <a:ext cx="4709673" cy="3859154"/>
          </a:xfrm>
          <a:prstGeom prst="rect">
            <a:avLst/>
          </a:prstGeom>
          <a:noFill/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/>
              <a:t>Метод </a:t>
            </a:r>
            <a:r>
              <a:rPr lang="ru-RU">
                <a:solidFill>
                  <a:srgbClr val="FF3300"/>
                </a:solidFill>
              </a:rPr>
              <a:t>__</a:t>
            </a:r>
            <a:r>
              <a:rPr lang="en-US">
                <a:solidFill>
                  <a:srgbClr val="FF3300"/>
                </a:solidFill>
              </a:rPr>
              <a:t>del__ </a:t>
            </a:r>
            <a:r>
              <a:rPr lang="ru-RU"/>
              <a:t>называется </a:t>
            </a:r>
            <a:r>
              <a:rPr lang="ru-RU">
                <a:solidFill>
                  <a:srgbClr val="C00000"/>
                </a:solidFill>
              </a:rPr>
              <a:t>де</a:t>
            </a:r>
            <a:r>
              <a:rPr lang="ru-RU">
                <a:solidFill>
                  <a:srgbClr val="FF3300"/>
                </a:solidFill>
              </a:rPr>
              <a:t>структором</a:t>
            </a:r>
            <a:r>
              <a:rPr lang="ru-RU"/>
              <a:t> и вызывается автоматически при </a:t>
            </a:r>
            <a:r>
              <a:rPr lang="ru-RU">
                <a:solidFill>
                  <a:srgbClr val="C00000"/>
                </a:solidFill>
              </a:rPr>
              <a:t>удалении</a:t>
            </a:r>
            <a:r>
              <a:rPr lang="ru-RU"/>
              <a:t> объекта класса из памяти сборщиком мусора.</a:t>
            </a:r>
            <a:endParaRPr/>
          </a:p>
          <a:p>
            <a:pPr>
              <a:defRPr/>
            </a:pPr>
            <a:r>
              <a:rPr lang="ru-RU"/>
              <a:t>Освобождает </a:t>
            </a:r>
            <a:r>
              <a:rPr lang="ru-RU">
                <a:solidFill>
                  <a:srgbClr val="C00000"/>
                </a:solidFill>
              </a:rPr>
              <a:t>ресурсы</a:t>
            </a:r>
            <a:r>
              <a:rPr lang="ru-RU"/>
              <a:t>, когда счетчик ссылок на объект в коде становится равен 0.</a:t>
            </a:r>
            <a:endParaRPr/>
          </a:p>
          <a:p>
            <a:pPr>
              <a:defRPr/>
            </a:pPr>
            <a:r>
              <a:rPr lang="ru-RU"/>
              <a:t>Можно вызвать командой </a:t>
            </a:r>
            <a:r>
              <a:rPr lang="en-US">
                <a:solidFill>
                  <a:srgbClr val="C00000"/>
                </a:solidFill>
              </a:rPr>
              <a:t>del</a:t>
            </a:r>
            <a:r>
              <a:rPr lang="ru-RU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141411" y="861848"/>
            <a:ext cx="9906000" cy="56755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b="1" cap="none">
                <a:solidFill>
                  <a:srgbClr val="002060"/>
                </a:solidFill>
                <a:latin typeface="Arial Black"/>
                <a:cs typeface="Arial"/>
              </a:rPr>
              <a:t>Проверка принадлежности классу </a:t>
            </a:r>
            <a:endParaRPr lang="ru-RU">
              <a:solidFill>
                <a:srgbClr val="002060"/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 bwMode="auto">
          <a:xfrm>
            <a:off x="1170324" y="1860607"/>
            <a:ext cx="4649783" cy="420142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 cap="none">
                <a:solidFill>
                  <a:schemeClr val="accent2">
                    <a:lumMod val="50000"/>
                  </a:schemeClr>
                </a:solidFill>
              </a:rPr>
              <a:t>type</a:t>
            </a:r>
            <a:r>
              <a:rPr lang="en-US" b="1" cap="none">
                <a:solidFill>
                  <a:srgbClr val="0070C0"/>
                </a:solidFill>
              </a:rPr>
              <a:t>(</a:t>
            </a:r>
            <a:r>
              <a:rPr lang="en-US" b="1" cap="none"/>
              <a:t>obj</a:t>
            </a:r>
            <a:r>
              <a:rPr lang="en-US" b="1" cap="none">
                <a:solidFill>
                  <a:srgbClr val="0070C0"/>
                </a:solidFill>
              </a:rPr>
              <a:t>) </a:t>
            </a:r>
            <a:r>
              <a:rPr lang="en-US" b="1" cap="none"/>
              <a:t> ClassName</a:t>
            </a:r>
            <a:endParaRPr lang="ru-RU" b="1" cap="none">
              <a:solidFill>
                <a:srgbClr val="0070C0"/>
              </a:solidFill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 bwMode="auto">
          <a:xfrm>
            <a:off x="931207" y="2490952"/>
            <a:ext cx="4355498" cy="3300246"/>
          </a:xfrm>
          <a:prstGeom prst="rect">
            <a:avLst/>
          </a:prstGeom>
          <a:solidFill>
            <a:schemeClr val="tx1"/>
          </a:solidFill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Определяет </a:t>
            </a: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точный класс 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объекта, </a:t>
            </a: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возвращая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 его.</a:t>
            </a:r>
            <a:endParaRPr/>
          </a:p>
          <a:p>
            <a:pPr>
              <a:defRPr/>
            </a:pP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Не учитывает иерархию 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наследования.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Идеально, когда требуется </a:t>
            </a: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строгая типизация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"/>
          </p:nvPr>
        </p:nvSpPr>
        <p:spPr bwMode="auto">
          <a:xfrm>
            <a:off x="5297214" y="1765738"/>
            <a:ext cx="6429729" cy="51501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b="1" cap="none">
                <a:solidFill>
                  <a:schemeClr val="accent2">
                    <a:lumMod val="50000"/>
                  </a:schemeClr>
                </a:solidFill>
              </a:rPr>
              <a:t>isinstance</a:t>
            </a:r>
            <a:r>
              <a:rPr lang="en-US" b="1" cap="none">
                <a:solidFill>
                  <a:srgbClr val="0070C0"/>
                </a:solidFill>
              </a:rPr>
              <a:t>(</a:t>
            </a:r>
            <a:r>
              <a:rPr lang="en-US" b="1" cap="none"/>
              <a:t>obj, ClassName</a:t>
            </a:r>
            <a:r>
              <a:rPr lang="en-US" b="1" cap="none">
                <a:solidFill>
                  <a:srgbClr val="0070C0"/>
                </a:solidFill>
              </a:rPr>
              <a:t>)</a:t>
            </a:r>
            <a:r>
              <a:rPr lang="en-US" b="1" cap="none"/>
              <a:t>  </a:t>
            </a:r>
            <a:r>
              <a:rPr lang="en-US" b="1" cap="none">
                <a:solidFill>
                  <a:schemeClr val="tx2"/>
                </a:solidFill>
              </a:rPr>
              <a:t>True</a:t>
            </a:r>
            <a:r>
              <a:rPr lang="ru-RU" b="1" cap="none">
                <a:solidFill>
                  <a:schemeClr val="tx2"/>
                </a:solidFill>
              </a:rPr>
              <a:t>/</a:t>
            </a:r>
            <a:r>
              <a:rPr lang="en-US" b="1" cap="none">
                <a:solidFill>
                  <a:schemeClr val="tx2"/>
                </a:solidFill>
              </a:rPr>
              <a:t>False</a:t>
            </a:r>
            <a:endParaRPr lang="ru-RU" b="1" cap="none">
              <a:solidFill>
                <a:schemeClr val="tx2"/>
              </a:solidFill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sz="quarter" idx="4"/>
          </p:nvPr>
        </p:nvSpPr>
        <p:spPr bwMode="auto">
          <a:xfrm>
            <a:off x="5444360" y="2490952"/>
            <a:ext cx="5885793" cy="3300245"/>
          </a:xfrm>
          <a:prstGeom prst="rect">
            <a:avLst/>
          </a:prstGeom>
          <a:solidFill>
            <a:schemeClr val="tx1"/>
          </a:solidFill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Проверяет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 принадлежность к классу или </a:t>
            </a: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любому его подклассу.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Поддерживает проверку </a:t>
            </a: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нескольких типов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 (через кортеж).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Широко применяется в парадигме </a:t>
            </a: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полиморфизма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141413" y="618518"/>
            <a:ext cx="9905998" cy="1042116"/>
          </a:xfrm>
        </p:spPr>
        <p:txBody>
          <a:bodyPr/>
          <a:lstStyle/>
          <a:p>
            <a:pPr>
              <a:defRPr/>
            </a:pPr>
            <a:r>
              <a:rPr lang="ru-RU" b="1" cap="none">
                <a:solidFill>
                  <a:srgbClr val="002060"/>
                </a:solidFill>
                <a:latin typeface="Arial Black"/>
                <a:cs typeface="Arial"/>
              </a:rPr>
              <a:t>Инкапсуляция атрибутов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1141412" y="1660634"/>
            <a:ext cx="9905999" cy="4130567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Парадигма </a:t>
            </a:r>
            <a:r>
              <a:rPr lang="ru-RU">
                <a:solidFill>
                  <a:srgbClr val="FF0000"/>
                </a:solidFill>
              </a:rPr>
              <a:t>инкапсуляции</a:t>
            </a:r>
            <a:r>
              <a:rPr lang="ru-RU">
                <a:solidFill>
                  <a:srgbClr val="002060"/>
                </a:solidFill>
              </a:rPr>
              <a:t> – чтобы значения </a:t>
            </a:r>
            <a:r>
              <a:rPr lang="ru-RU">
                <a:solidFill>
                  <a:srgbClr val="FF0000"/>
                </a:solidFill>
              </a:rPr>
              <a:t>атрибутов </a:t>
            </a:r>
            <a:r>
              <a:rPr lang="ru-RU">
                <a:solidFill>
                  <a:srgbClr val="002060"/>
                </a:solidFill>
              </a:rPr>
              <a:t>объекта менялись только через его собственные </a:t>
            </a:r>
            <a:r>
              <a:rPr lang="ru-RU">
                <a:solidFill>
                  <a:srgbClr val="FF0000"/>
                </a:solidFill>
              </a:rPr>
              <a:t>методы</a:t>
            </a:r>
            <a:r>
              <a:rPr lang="ru-RU">
                <a:solidFill>
                  <a:srgbClr val="002060"/>
                </a:solidFill>
              </a:rPr>
              <a:t>.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Это </a:t>
            </a:r>
            <a:r>
              <a:rPr lang="ru-RU">
                <a:solidFill>
                  <a:srgbClr val="FF0000"/>
                </a:solidFill>
              </a:rPr>
              <a:t>защищает</a:t>
            </a:r>
            <a:r>
              <a:rPr lang="ru-RU">
                <a:solidFill>
                  <a:srgbClr val="002060"/>
                </a:solidFill>
              </a:rPr>
              <a:t> объект от таких изменений, которые не предусмотрены его </a:t>
            </a:r>
            <a:r>
              <a:rPr lang="ru-RU">
                <a:solidFill>
                  <a:srgbClr val="FF0000"/>
                </a:solidFill>
              </a:rPr>
              <a:t>логикой</a:t>
            </a:r>
            <a:r>
              <a:rPr lang="ru-RU">
                <a:solidFill>
                  <a:srgbClr val="002060"/>
                </a:solidFill>
              </a:rPr>
              <a:t>.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Чтобы инкапсулировать атрибут, </a:t>
            </a:r>
            <a:r>
              <a:rPr lang="ru-RU">
                <a:solidFill>
                  <a:srgbClr val="FF3300"/>
                </a:solidFill>
              </a:rPr>
              <a:t>перед его именем </a:t>
            </a:r>
            <a:r>
              <a:rPr lang="ru-RU">
                <a:solidFill>
                  <a:srgbClr val="002060"/>
                </a:solidFill>
              </a:rPr>
              <a:t>ставим </a:t>
            </a:r>
            <a:r>
              <a:rPr lang="ru-RU">
                <a:solidFill>
                  <a:srgbClr val="FF3300"/>
                </a:solidFill>
              </a:rPr>
              <a:t>_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Чтобы случайно </a:t>
            </a:r>
            <a:r>
              <a:rPr lang="ru-RU">
                <a:solidFill>
                  <a:srgbClr val="FF3300"/>
                </a:solidFill>
              </a:rPr>
              <a:t>не переопределить </a:t>
            </a:r>
            <a:r>
              <a:rPr lang="ru-RU">
                <a:solidFill>
                  <a:srgbClr val="002060"/>
                </a:solidFill>
              </a:rPr>
              <a:t>имя атрибута в подклассах, можно поставить перед ним </a:t>
            </a:r>
            <a:r>
              <a:rPr lang="ru-RU">
                <a:solidFill>
                  <a:srgbClr val="FF3300"/>
                </a:solidFill>
              </a:rPr>
              <a:t>__</a:t>
            </a:r>
            <a:r>
              <a:rPr lang="ru-RU">
                <a:solidFill>
                  <a:srgbClr val="002060"/>
                </a:solidFill>
              </a:rPr>
              <a:t>, и тогда оно будет автоматически искажаться.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141413" y="618518"/>
            <a:ext cx="9905998" cy="1136710"/>
          </a:xfrm>
        </p:spPr>
        <p:txBody>
          <a:bodyPr/>
          <a:lstStyle/>
          <a:p>
            <a:pPr>
              <a:defRPr/>
            </a:pPr>
            <a:r>
              <a:rPr lang="ru-RU" cap="none">
                <a:solidFill>
                  <a:srgbClr val="002060"/>
                </a:solidFill>
                <a:latin typeface="Arial Black"/>
              </a:rPr>
              <a:t>Пример: </a:t>
            </a:r>
            <a:r>
              <a:rPr lang="ru-RU" cap="none">
                <a:solidFill>
                  <a:srgbClr val="002060"/>
                </a:solidFill>
                <a:latin typeface="Arial"/>
                <a:cs typeface="Arial"/>
              </a:rPr>
              <a:t>увеличение пробега машины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519241" y="1755228"/>
            <a:ext cx="6249204" cy="3859154"/>
          </a:xfrm>
          <a:prstGeom prst="rect">
            <a:avLst/>
          </a:prstGeom>
          <a:solidFill>
            <a:schemeClr val="tx1"/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sz="2200">
                <a:solidFill>
                  <a:srgbClr val="0070C0"/>
                </a:solidFill>
                <a:latin typeface="Arial"/>
                <a:cs typeface="Arial"/>
              </a:rPr>
              <a:t>class </a:t>
            </a: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Car:</a:t>
            </a:r>
          </a:p>
          <a:p>
            <a:pPr marL="0" indent="0">
              <a:buNone/>
              <a:defRPr/>
            </a:pP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       </a:t>
            </a:r>
            <a:r>
              <a:rPr lang="en-US" sz="2200">
                <a:solidFill>
                  <a:srgbClr val="0070C0"/>
                </a:solidFill>
                <a:latin typeface="Arial"/>
                <a:cs typeface="Arial"/>
              </a:rPr>
              <a:t>def</a:t>
            </a: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2200">
                <a:solidFill>
                  <a:srgbClr val="7030A0"/>
                </a:solidFill>
                <a:latin typeface="Arial"/>
                <a:cs typeface="Arial"/>
              </a:rPr>
              <a:t>__init__</a:t>
            </a:r>
            <a:r>
              <a:rPr lang="en-US" sz="2200">
                <a:solidFill>
                  <a:srgbClr val="0070C0"/>
                </a:solidFill>
                <a:latin typeface="Arial"/>
                <a:cs typeface="Arial"/>
              </a:rPr>
              <a:t>(</a:t>
            </a:r>
            <a:r>
              <a:rPr lang="en-US" sz="2200">
                <a:solidFill>
                  <a:srgbClr val="7030A0"/>
                </a:solidFill>
                <a:latin typeface="Arial"/>
                <a:cs typeface="Arial"/>
              </a:rPr>
              <a:t>self</a:t>
            </a: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, brand, mileage, engine_on=</a:t>
            </a:r>
            <a:r>
              <a:rPr lang="en-US" sz="220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False</a:t>
            </a:r>
            <a:r>
              <a:rPr lang="en-US" sz="2200">
                <a:solidFill>
                  <a:srgbClr val="0070C0"/>
                </a:solidFill>
                <a:latin typeface="Arial"/>
                <a:cs typeface="Arial"/>
              </a:rPr>
              <a:t>)</a:t>
            </a: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:</a:t>
            </a:r>
          </a:p>
          <a:p>
            <a:pPr marL="0" indent="0">
              <a:buNone/>
              <a:defRPr/>
            </a:pP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	</a:t>
            </a:r>
            <a:r>
              <a:rPr lang="en-US" sz="2200">
                <a:solidFill>
                  <a:srgbClr val="7030A0"/>
                </a:solidFill>
                <a:latin typeface="Arial"/>
                <a:cs typeface="Arial"/>
              </a:rPr>
              <a:t>self</a:t>
            </a: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._brand = brand</a:t>
            </a:r>
            <a:endParaRPr lang="ru-RU" sz="220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r>
              <a:rPr lang="ru-RU" sz="2200">
                <a:solidFill>
                  <a:schemeClr val="bg1"/>
                </a:solidFill>
                <a:latin typeface="Arial"/>
                <a:cs typeface="Arial"/>
              </a:rPr>
              <a:t>	</a:t>
            </a:r>
            <a:r>
              <a:rPr lang="en-US" sz="2200">
                <a:solidFill>
                  <a:srgbClr val="7030A0"/>
                </a:solidFill>
                <a:latin typeface="Arial"/>
                <a:cs typeface="Arial"/>
              </a:rPr>
              <a:t>self</a:t>
            </a: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._mileage = mileage</a:t>
            </a:r>
            <a:endParaRPr/>
          </a:p>
          <a:p>
            <a:pPr marL="0" indent="0">
              <a:buNone/>
              <a:defRPr/>
            </a:pPr>
            <a:r>
              <a:rPr lang="en-US" sz="2200">
                <a:solidFill>
                  <a:schemeClr val="bg1"/>
                </a:solidFill>
                <a:latin typeface="Arial"/>
                <a:cs typeface="Arial"/>
              </a:rPr>
              <a:t>	self._engine_on = engine_on</a:t>
            </a:r>
          </a:p>
          <a:p>
            <a:pPr marL="0" indent="0">
              <a:buNone/>
              <a:defRPr/>
            </a:pP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      </a:t>
            </a:r>
            <a:r>
              <a:rPr lang="en-US">
                <a:solidFill>
                  <a:srgbClr val="0070C0"/>
                </a:solidFill>
                <a:latin typeface="Arial"/>
                <a:cs typeface="Arial"/>
              </a:rPr>
              <a:t>def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start_engine</a:t>
            </a:r>
            <a:r>
              <a:rPr lang="en-US">
                <a:solidFill>
                  <a:srgbClr val="0070C0"/>
                </a:solidFill>
              </a:rPr>
              <a:t>(</a:t>
            </a:r>
            <a:r>
              <a:rPr lang="en-US">
                <a:solidFill>
                  <a:srgbClr val="7030A0"/>
                </a:solidFill>
              </a:rPr>
              <a:t>self</a:t>
            </a:r>
            <a:r>
              <a:rPr lang="en-US">
                <a:solidFill>
                  <a:srgbClr val="0070C0"/>
                </a:solidFill>
              </a:rPr>
              <a:t>)</a:t>
            </a:r>
            <a:r>
              <a:rPr lang="en-US">
                <a:solidFill>
                  <a:srgbClr val="002060"/>
                </a:solidFill>
              </a:rPr>
              <a:t>:</a:t>
            </a:r>
            <a:endParaRPr/>
          </a:p>
          <a:p>
            <a:pPr marL="0" indent="0">
              <a:buNone/>
              <a:defRPr/>
            </a:pPr>
            <a:r>
              <a:rPr lang="en-US">
                <a:solidFill>
                  <a:srgbClr val="002060"/>
                </a:solidFill>
              </a:rPr>
              <a:t>           </a:t>
            </a:r>
            <a:r>
              <a:rPr lang="en-US">
                <a:solidFill>
                  <a:srgbClr val="0070C0"/>
                </a:solidFill>
              </a:rPr>
              <a:t>if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>
                <a:solidFill>
                  <a:srgbClr val="0070C0"/>
                </a:solidFill>
              </a:rPr>
              <a:t>not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>
                <a:solidFill>
                  <a:srgbClr val="7030A0"/>
                </a:solidFill>
              </a:rPr>
              <a:t>self</a:t>
            </a:r>
            <a:r>
              <a:rPr lang="en-US">
                <a:solidFill>
                  <a:schemeClr val="bg1"/>
                </a:solidFill>
              </a:rPr>
              <a:t>.engine_on</a:t>
            </a:r>
            <a:r>
              <a:rPr lang="en-US">
                <a:solidFill>
                  <a:srgbClr val="002060"/>
                </a:solidFill>
              </a:rPr>
              <a:t>:</a:t>
            </a:r>
          </a:p>
          <a:p>
            <a:pPr marL="0" indent="0">
              <a:buNone/>
              <a:defRPr/>
            </a:pPr>
            <a:r>
              <a:rPr lang="en-US">
                <a:solidFill>
                  <a:srgbClr val="002060"/>
                </a:solidFill>
              </a:rPr>
              <a:t>                </a:t>
            </a:r>
            <a:r>
              <a:rPr lang="en-US">
                <a:solidFill>
                  <a:srgbClr val="7030A0"/>
                </a:solidFill>
              </a:rPr>
              <a:t>self</a:t>
            </a:r>
            <a:r>
              <a:rPr lang="en-US">
                <a:solidFill>
                  <a:schemeClr val="bg1"/>
                </a:solidFill>
              </a:rPr>
              <a:t>.engine_on</a:t>
            </a:r>
            <a:r>
              <a:rPr lang="en-US">
                <a:solidFill>
                  <a:srgbClr val="002060"/>
                </a:solidFill>
              </a:rPr>
              <a:t> = </a:t>
            </a:r>
            <a:r>
              <a:rPr lang="en-US">
                <a:solidFill>
                  <a:schemeClr val="tx2">
                    <a:lumMod val="50000"/>
                  </a:schemeClr>
                </a:solidFill>
              </a:rPr>
              <a:t>True</a:t>
            </a:r>
            <a:endParaRPr/>
          </a:p>
          <a:p>
            <a:pPr marL="0" indent="0">
              <a:buNone/>
              <a:defRPr/>
            </a:pPr>
            <a:r>
              <a:rPr lang="en-US">
                <a:solidFill>
                  <a:srgbClr val="002060"/>
                </a:solidFill>
              </a:rPr>
              <a:t>                </a:t>
            </a:r>
            <a:r>
              <a:rPr lang="en-US">
                <a:solidFill>
                  <a:srgbClr val="0070C0"/>
                </a:solidFill>
              </a:rPr>
              <a:t>return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>
                <a:solidFill>
                  <a:srgbClr val="C00000"/>
                </a:solidFill>
              </a:rPr>
              <a:t>"Двигатель запущен."</a:t>
            </a:r>
            <a:endParaRPr lang="ru-RU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 bwMode="auto">
          <a:xfrm>
            <a:off x="6909044" y="1755228"/>
            <a:ext cx="4760539" cy="3859154"/>
          </a:xfrm>
          <a:prstGeom prst="rect">
            <a:avLst/>
          </a:prstGeom>
          <a:solidFill>
            <a:schemeClr val="tx1"/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>
                <a:solidFill>
                  <a:srgbClr val="0070C0"/>
                </a:solidFill>
                <a:latin typeface="Arial"/>
                <a:cs typeface="Arial"/>
              </a:rPr>
              <a:t>    def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>
                <a:solidFill>
                  <a:schemeClr val="accent2">
                    <a:lumMod val="50000"/>
                  </a:schemeClr>
                </a:solidFill>
              </a:rPr>
              <a:t>get_mileage</a:t>
            </a:r>
            <a:r>
              <a:rPr lang="en-US">
                <a:solidFill>
                  <a:srgbClr val="0070C0"/>
                </a:solidFill>
              </a:rPr>
              <a:t>(</a:t>
            </a:r>
            <a:r>
              <a:rPr lang="en-US">
                <a:solidFill>
                  <a:srgbClr val="7030A0"/>
                </a:solidFill>
              </a:rPr>
              <a:t>self, </a:t>
            </a:r>
            <a:r>
              <a:rPr lang="en-US">
                <a:solidFill>
                  <a:schemeClr val="bg1"/>
                </a:solidFill>
              </a:rPr>
              <a:t>distance</a:t>
            </a:r>
            <a:r>
              <a:rPr lang="en-US">
                <a:solidFill>
                  <a:srgbClr val="0070C0"/>
                </a:solidFill>
              </a:rPr>
              <a:t>)</a:t>
            </a:r>
            <a:r>
              <a:rPr lang="en-US">
                <a:solidFill>
                  <a:srgbClr val="002060"/>
                </a:solidFill>
              </a:rPr>
              <a:t>:</a:t>
            </a:r>
          </a:p>
          <a:p>
            <a:pPr marL="0" indent="0">
              <a:buNone/>
              <a:defRPr/>
            </a:pPr>
            <a:r>
              <a:rPr lang="en-US">
                <a:solidFill>
                  <a:srgbClr val="002060"/>
                </a:solidFill>
              </a:rPr>
              <a:t>           </a:t>
            </a:r>
            <a:r>
              <a:rPr lang="en-US">
                <a:solidFill>
                  <a:srgbClr val="0070C0"/>
                </a:solidFill>
              </a:rPr>
              <a:t>if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>
                <a:solidFill>
                  <a:srgbClr val="7030A0"/>
                </a:solidFill>
              </a:rPr>
              <a:t>self</a:t>
            </a:r>
            <a:r>
              <a:rPr lang="en-US">
                <a:solidFill>
                  <a:schemeClr val="bg1"/>
                </a:solidFill>
              </a:rPr>
              <a:t>.engine_on</a:t>
            </a:r>
            <a:r>
              <a:rPr lang="en-US">
                <a:solidFill>
                  <a:srgbClr val="002060"/>
                </a:solidFill>
              </a:rPr>
              <a:t>:</a:t>
            </a:r>
            <a:endParaRPr/>
          </a:p>
          <a:p>
            <a:pPr marL="0" indent="0">
              <a:buNone/>
              <a:defRPr/>
            </a:pPr>
            <a:r>
              <a:rPr lang="en-US">
                <a:solidFill>
                  <a:srgbClr val="002060"/>
                </a:solidFill>
              </a:rPr>
              <a:t>                </a:t>
            </a:r>
            <a:r>
              <a:rPr lang="en-US">
                <a:solidFill>
                  <a:srgbClr val="7030A0"/>
                </a:solidFill>
              </a:rPr>
              <a:t>self</a:t>
            </a:r>
            <a:r>
              <a:rPr lang="en-US">
                <a:solidFill>
                  <a:srgbClr val="002060"/>
                </a:solidFill>
              </a:rPr>
              <a:t>.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mileage += </a:t>
            </a:r>
            <a:r>
              <a:rPr lang="en-US">
                <a:solidFill>
                  <a:schemeClr val="bg1"/>
                </a:solidFill>
              </a:rPr>
              <a:t>distance</a:t>
            </a:r>
            <a:endParaRPr lang="ru-RU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r>
              <a:rPr lang="ru-RU">
                <a:solidFill>
                  <a:schemeClr val="bg1"/>
                </a:solidFill>
              </a:rPr>
              <a:t>	     </a:t>
            </a:r>
            <a:r>
              <a:rPr lang="en-US">
                <a:solidFill>
                  <a:srgbClr val="0070C0"/>
                </a:solidFill>
              </a:rPr>
              <a:t>return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rgbClr val="FF3300"/>
                </a:solidFill>
              </a:rPr>
              <a:t>f</a:t>
            </a:r>
            <a:r>
              <a:rPr lang="en-US">
                <a:solidFill>
                  <a:srgbClr val="C00000"/>
                </a:solidFill>
              </a:rPr>
              <a:t>“</a:t>
            </a:r>
            <a:r>
              <a:rPr lang="ru-RU">
                <a:solidFill>
                  <a:srgbClr val="C00000"/>
                </a:solidFill>
              </a:rPr>
              <a:t>Проехали 			</a:t>
            </a:r>
            <a:r>
              <a:rPr lang="en-US">
                <a:solidFill>
                  <a:srgbClr val="C00000"/>
                </a:solidFill>
              </a:rPr>
              <a:t>{</a:t>
            </a:r>
            <a:r>
              <a:rPr lang="en-US">
                <a:solidFill>
                  <a:schemeClr val="bg1"/>
                </a:solidFill>
              </a:rPr>
              <a:t>distance</a:t>
            </a:r>
            <a:r>
              <a:rPr lang="en-US">
                <a:solidFill>
                  <a:srgbClr val="C00000"/>
                </a:solidFill>
              </a:rPr>
              <a:t>} </a:t>
            </a:r>
            <a:r>
              <a:rPr lang="ru-RU">
                <a:solidFill>
                  <a:srgbClr val="C00000"/>
                </a:solidFill>
              </a:rPr>
              <a:t>км, пробег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ru-RU">
                <a:solidFill>
                  <a:srgbClr val="C00000"/>
                </a:solidFill>
              </a:rPr>
              <a:t>			</a:t>
            </a:r>
            <a:r>
              <a:rPr lang="en-US">
                <a:solidFill>
                  <a:srgbClr val="C00000"/>
                </a:solidFill>
              </a:rPr>
              <a:t>{</a:t>
            </a:r>
            <a:r>
              <a:rPr lang="en-US">
                <a:solidFill>
                  <a:srgbClr val="7030A0"/>
                </a:solidFill>
              </a:rPr>
              <a:t>self</a:t>
            </a:r>
            <a:r>
              <a:rPr lang="en-US">
                <a:solidFill>
                  <a:srgbClr val="002060"/>
                </a:solidFill>
              </a:rPr>
              <a:t>.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mileage</a:t>
            </a:r>
            <a:r>
              <a:rPr lang="en-US">
                <a:solidFill>
                  <a:srgbClr val="C00000"/>
                </a:solidFill>
              </a:rPr>
              <a:t>} </a:t>
            </a:r>
            <a:r>
              <a:rPr lang="ru-RU">
                <a:solidFill>
                  <a:srgbClr val="C00000"/>
                </a:solidFill>
              </a:rPr>
              <a:t>км</a:t>
            </a:r>
            <a:r>
              <a:rPr lang="en-US">
                <a:solidFill>
                  <a:srgbClr val="C00000"/>
                </a:solidFill>
              </a:rPr>
              <a:t>."</a:t>
            </a:r>
            <a:endParaRPr lang="en-US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r>
              <a:rPr lang="en-US">
                <a:solidFill>
                  <a:schemeClr val="bg1"/>
                </a:solidFill>
              </a:rPr>
              <a:t>	</a:t>
            </a:r>
            <a:r>
              <a:rPr lang="en-US">
                <a:solidFill>
                  <a:schemeClr val="bg2"/>
                </a:solidFill>
              </a:rPr>
              <a:t>else:</a:t>
            </a:r>
            <a:endParaRPr/>
          </a:p>
          <a:p>
            <a:pPr marL="0" indent="0">
              <a:buNone/>
              <a:defRPr/>
            </a:pPr>
            <a:r>
              <a:rPr lang="en-US">
                <a:solidFill>
                  <a:schemeClr val="bg2"/>
                </a:solidFill>
              </a:rPr>
              <a:t>	   </a:t>
            </a:r>
            <a:r>
              <a:rPr lang="en-US">
                <a:solidFill>
                  <a:srgbClr val="0070C0"/>
                </a:solidFill>
              </a:rPr>
              <a:t>  </a:t>
            </a:r>
            <a:r>
              <a:rPr lang="ru-RU">
                <a:solidFill>
                  <a:srgbClr val="0070C0"/>
                </a:solidFill>
              </a:rPr>
              <a:t> </a:t>
            </a:r>
            <a:r>
              <a:rPr lang="en-US">
                <a:solidFill>
                  <a:srgbClr val="0070C0"/>
                </a:solidFill>
              </a:rPr>
              <a:t>return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>
                <a:solidFill>
                  <a:srgbClr val="C00000"/>
                </a:solidFill>
              </a:rPr>
              <a:t>"Двигатель </a:t>
            </a:r>
            <a:r>
              <a:rPr lang="ru-RU">
                <a:solidFill>
                  <a:srgbClr val="C00000"/>
                </a:solidFill>
              </a:rPr>
              <a:t>не 			</a:t>
            </a:r>
            <a:r>
              <a:rPr lang="en-US">
                <a:solidFill>
                  <a:srgbClr val="C00000"/>
                </a:solidFill>
              </a:rPr>
              <a:t>запущен."</a:t>
            </a:r>
            <a:endParaRPr lang="ru-RU">
              <a:solidFill>
                <a:srgbClr val="C00000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endParaRPr lang="ru-RU">
              <a:solidFill>
                <a:schemeClr val="bg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141413" y="618518"/>
            <a:ext cx="9905998" cy="1042116"/>
          </a:xfrm>
        </p:spPr>
        <p:txBody>
          <a:bodyPr/>
          <a:lstStyle/>
          <a:p>
            <a:pPr>
              <a:defRPr/>
            </a:pPr>
            <a:r>
              <a:rPr lang="ru-RU" b="1" cap="none">
                <a:solidFill>
                  <a:srgbClr val="002060"/>
                </a:solidFill>
                <a:latin typeface="Arial Black"/>
                <a:cs typeface="Arial"/>
              </a:rPr>
              <a:t>Абстракция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1141412" y="1660634"/>
            <a:ext cx="9905999" cy="4130567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Базовые классы создаем с </a:t>
            </a:r>
            <a:r>
              <a:rPr lang="ru-RU">
                <a:solidFill>
                  <a:srgbClr val="FF3300"/>
                </a:solidFill>
              </a:rPr>
              <a:t>минимумом атрибутов и методов</a:t>
            </a:r>
            <a:r>
              <a:rPr lang="ru-RU">
                <a:solidFill>
                  <a:srgbClr val="002060"/>
                </a:solidFill>
              </a:rPr>
              <a:t>.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Все остальное прописываем непосредственно в наследниках.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Это нужно, чтобы </a:t>
            </a:r>
            <a:r>
              <a:rPr lang="ru-RU">
                <a:solidFill>
                  <a:srgbClr val="FF3300"/>
                </a:solidFill>
              </a:rPr>
              <a:t>не тащить </a:t>
            </a:r>
            <a:r>
              <a:rPr lang="ru-RU">
                <a:solidFill>
                  <a:srgbClr val="002060"/>
                </a:solidFill>
              </a:rPr>
              <a:t>за собой множество полей для данных, с которыми мы будем работать только в одном из многих случаев.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При этом </a:t>
            </a:r>
            <a:r>
              <a:rPr lang="ru-RU">
                <a:solidFill>
                  <a:srgbClr val="FF3300"/>
                </a:solidFill>
              </a:rPr>
              <a:t>максимально используем наследование</a:t>
            </a:r>
            <a:r>
              <a:rPr lang="ru-RU">
                <a:solidFill>
                  <a:srgbClr val="002060"/>
                </a:solidFill>
              </a:rPr>
              <a:t>, а не создаем новые базовые классы.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Логика должна быть </a:t>
            </a:r>
            <a:r>
              <a:rPr lang="ru-RU">
                <a:solidFill>
                  <a:srgbClr val="FF3300"/>
                </a:solidFill>
              </a:rPr>
              <a:t>прозрачной</a:t>
            </a:r>
            <a:r>
              <a:rPr lang="ru-RU">
                <a:solidFill>
                  <a:srgbClr val="002060"/>
                </a:solidFill>
              </a:rPr>
              <a:t>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141413" y="618518"/>
            <a:ext cx="9905998" cy="1042116"/>
          </a:xfrm>
        </p:spPr>
        <p:txBody>
          <a:bodyPr/>
          <a:lstStyle/>
          <a:p>
            <a:pPr>
              <a:defRPr/>
            </a:pPr>
            <a:r>
              <a:rPr lang="ru-RU" b="1" cap="none">
                <a:solidFill>
                  <a:srgbClr val="002060"/>
                </a:solidFill>
                <a:latin typeface="Arial Black"/>
                <a:cs typeface="Arial"/>
              </a:rPr>
              <a:t>Полиморфизм и перегрузка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1141412" y="1660634"/>
            <a:ext cx="9905999" cy="4130567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rgbClr val="FF3300"/>
                </a:solidFill>
              </a:rPr>
              <a:t>Методы</a:t>
            </a:r>
            <a:r>
              <a:rPr lang="ru-RU">
                <a:solidFill>
                  <a:srgbClr val="002060"/>
                </a:solidFill>
              </a:rPr>
              <a:t> базового класса могут быть </a:t>
            </a:r>
            <a:r>
              <a:rPr lang="ru-RU">
                <a:solidFill>
                  <a:srgbClr val="FF3300"/>
                </a:solidFill>
              </a:rPr>
              <a:t>переопределены</a:t>
            </a:r>
            <a:r>
              <a:rPr lang="ru-RU">
                <a:solidFill>
                  <a:srgbClr val="002060"/>
                </a:solidFill>
              </a:rPr>
              <a:t> в классах-наследниках, если требуется </a:t>
            </a:r>
            <a:r>
              <a:rPr lang="ru-RU">
                <a:solidFill>
                  <a:srgbClr val="FF3300"/>
                </a:solidFill>
              </a:rPr>
              <a:t>вариативность</a:t>
            </a:r>
            <a:r>
              <a:rPr lang="ru-RU">
                <a:solidFill>
                  <a:srgbClr val="002060"/>
                </a:solidFill>
              </a:rPr>
              <a:t>.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Для этого используются </a:t>
            </a:r>
            <a:r>
              <a:rPr lang="ru-RU">
                <a:solidFill>
                  <a:srgbClr val="FF3300"/>
                </a:solidFill>
              </a:rPr>
              <a:t>декораторы </a:t>
            </a:r>
            <a:r>
              <a:rPr lang="ru-RU">
                <a:solidFill>
                  <a:srgbClr val="002060"/>
                </a:solidFill>
              </a:rPr>
              <a:t>– специальные функции, меняющие поведение объектов класса.</a:t>
            </a:r>
            <a:endParaRPr lang="en-US">
              <a:solidFill>
                <a:srgbClr val="002060"/>
              </a:solidFill>
            </a:endParaRPr>
          </a:p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Объявляем декоратор класса перед его определением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Перед именем декоратора класса ставим </a:t>
            </a:r>
            <a:r>
              <a:rPr lang="en-US">
                <a:solidFill>
                  <a:srgbClr val="FF3300"/>
                </a:solidFill>
              </a:rPr>
              <a:t>@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Декораторы экономят код за счет повторного использования классов.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234386" name="Заголовок 1"/>
          <p:cNvSpPr>
            <a:spLocks noGrp="1"/>
          </p:cNvSpPr>
          <p:nvPr>
            <p:ph type="title"/>
          </p:nvPr>
        </p:nvSpPr>
        <p:spPr bwMode="auto">
          <a:xfrm>
            <a:off x="1141413" y="618518"/>
            <a:ext cx="9905998" cy="1136710"/>
          </a:xfrm>
        </p:spPr>
        <p:txBody>
          <a:bodyPr/>
          <a:lstStyle/>
          <a:p>
            <a:pPr>
              <a:defRPr/>
            </a:pPr>
            <a:r>
              <a:rPr lang="ru-RU" cap="none">
                <a:solidFill>
                  <a:srgbClr val="002060"/>
                </a:solidFill>
                <a:latin typeface="Arial Black"/>
              </a:rPr>
              <a:t>Пример: </a:t>
            </a:r>
            <a:r>
              <a:rPr lang="ru-RU" cap="none">
                <a:solidFill>
                  <a:srgbClr val="002060"/>
                </a:solidFill>
                <a:latin typeface="Arial"/>
                <a:cs typeface="Arial"/>
              </a:rPr>
              <a:t>простой декоратор класса</a:t>
            </a:r>
          </a:p>
        </p:txBody>
      </p:sp>
      <p:sp>
        <p:nvSpPr>
          <p:cNvPr id="994232183" name="Объект 2"/>
          <p:cNvSpPr>
            <a:spLocks noGrp="1"/>
          </p:cNvSpPr>
          <p:nvPr>
            <p:ph sz="half" idx="1"/>
          </p:nvPr>
        </p:nvSpPr>
        <p:spPr bwMode="auto">
          <a:xfrm>
            <a:off x="519241" y="1755228"/>
            <a:ext cx="6249204" cy="3859154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indent="0">
              <a:buSzPct val="125000"/>
              <a:buFont typeface="Arial"/>
              <a:buNone/>
              <a:defRPr/>
            </a:pPr>
            <a:r>
              <a:rPr lang="ru-RU" sz="2000" b="0" i="0" u="none" strike="noStrike" cap="none" spc="0">
                <a:solidFill>
                  <a:srgbClr val="0070C0"/>
                </a:solidFill>
                <a:latin typeface="Arial"/>
                <a:ea typeface="Arial"/>
                <a:cs typeface="Arial"/>
              </a:rPr>
              <a:t>def</a:t>
            </a:r>
            <a:r>
              <a:rPr lang="ru-RU" sz="20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000" b="0" i="0" u="none" strike="noStrike" cap="none" spc="0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simple_decorator</a:t>
            </a:r>
            <a:r>
              <a:rPr lang="ru-RU" sz="2000" b="0" i="0" u="none" strike="noStrike" cap="none" spc="0">
                <a:solidFill>
                  <a:srgbClr val="0070C0"/>
                </a:solidFill>
                <a:latin typeface="Arial"/>
                <a:ea typeface="Arial"/>
                <a:cs typeface="Arial"/>
              </a:rPr>
              <a:t>(</a:t>
            </a:r>
            <a:r>
              <a:rPr lang="ru-RU" sz="20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cls</a:t>
            </a:r>
            <a:r>
              <a:rPr lang="ru-RU" sz="2000" b="0" i="0" u="none" strike="noStrike" cap="none" spc="0">
                <a:solidFill>
                  <a:srgbClr val="0070C0"/>
                </a:solidFill>
                <a:latin typeface="Arial"/>
                <a:ea typeface="Arial"/>
                <a:cs typeface="Arial"/>
              </a:rPr>
              <a:t>)</a:t>
            </a:r>
            <a:r>
              <a:rPr lang="ru-RU" sz="20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:</a:t>
            </a:r>
          </a:p>
          <a:p>
            <a:pPr marL="0" indent="0">
              <a:buSzPct val="125000"/>
              <a:buFont typeface="Arial"/>
              <a:buNone/>
              <a:defRPr/>
            </a:pPr>
            <a:r>
              <a:rPr lang="ru-RU" sz="2000" b="0" i="0" u="none" strike="noStrike" cap="none" spc="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#Модифицируем класс</a:t>
            </a:r>
            <a:endParaRPr sz="2000" b="0" i="0" u="none" strike="noStrike" cap="none" spc="0">
              <a:solidFill>
                <a:schemeClr val="bg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  <a:p>
            <a:pPr marL="0" indent="0">
              <a:buSzPct val="125000"/>
              <a:buFont typeface="Arial"/>
              <a:buNone/>
              <a:defRPr/>
            </a:pPr>
            <a:r>
              <a:rPr lang="ru-RU" sz="20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     </a:t>
            </a:r>
            <a:r>
              <a:rPr lang="ru-RU" sz="20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cls.new_attribute = </a:t>
            </a:r>
            <a:r>
              <a:rPr lang="ru-RU" sz="20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"I was added by a decorator"</a:t>
            </a:r>
            <a:endParaRPr sz="2000" b="0" i="0" u="none" strike="noStrike" cap="none" spc="0">
              <a:solidFill>
                <a:srgbClr val="C00000"/>
              </a:solidFill>
              <a:latin typeface="Arial"/>
              <a:cs typeface="Arial"/>
            </a:endParaRPr>
          </a:p>
          <a:p>
            <a:pPr marL="0" indent="0">
              <a:buSzPct val="125000"/>
              <a:buFont typeface="Arial"/>
              <a:buNone/>
              <a:defRPr/>
            </a:pPr>
            <a:r>
              <a:rPr lang="ru-RU" sz="20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     </a:t>
            </a:r>
            <a:r>
              <a:rPr lang="ru-RU" sz="2000" b="0" i="0" u="none" strike="noStrike" cap="none" spc="0">
                <a:solidFill>
                  <a:srgbClr val="0070C0"/>
                </a:solidFill>
                <a:latin typeface="Arial"/>
                <a:ea typeface="Arial"/>
                <a:cs typeface="Arial"/>
              </a:rPr>
              <a:t>return</a:t>
            </a:r>
            <a:r>
              <a:rPr lang="ru-RU" sz="20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0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cls</a:t>
            </a:r>
          </a:p>
          <a:p>
            <a:pPr marL="0" indent="0">
              <a:buSzPct val="125000"/>
              <a:buFont typeface="Arial"/>
              <a:buNone/>
              <a:defRPr/>
            </a:pPr>
            <a:endParaRPr sz="2000" b="0" i="0" u="none" strike="noStrike" cap="none" spc="0">
              <a:solidFill>
                <a:srgbClr val="C00000"/>
              </a:solidFill>
              <a:latin typeface="Arial"/>
              <a:cs typeface="Arial"/>
            </a:endParaRPr>
          </a:p>
          <a:p>
            <a:pPr marL="0" indent="0">
              <a:buSzPct val="125000"/>
              <a:buFont typeface="Arial"/>
              <a:buNone/>
              <a:defRPr/>
            </a:pPr>
            <a:r>
              <a:rPr lang="ru-RU" sz="2000" b="0" i="0" u="none" strike="noStrike" cap="none" spc="0">
                <a:solidFill>
                  <a:schemeClr val="accent3">
                    <a:lumMod val="50000"/>
                  </a:schemeClr>
                </a:solidFill>
                <a:latin typeface="Arial"/>
                <a:ea typeface="Arial"/>
                <a:cs typeface="Arial"/>
              </a:rPr>
              <a:t>@simple_decorator</a:t>
            </a:r>
            <a:endParaRPr sz="2000" b="0" i="0" u="none" strike="noStrike" cap="none" spc="0">
              <a:solidFill>
                <a:srgbClr val="C00000"/>
              </a:solidFill>
              <a:latin typeface="Arial"/>
              <a:cs typeface="Arial"/>
            </a:endParaRPr>
          </a:p>
          <a:p>
            <a:pPr marL="0" indent="0">
              <a:buSzPct val="125000"/>
              <a:buFont typeface="Arial"/>
              <a:buNone/>
              <a:defRPr/>
            </a:pPr>
            <a:r>
              <a:rPr lang="ru-RU" sz="2000" b="0" i="0" u="none" strike="noStrike" cap="none" spc="0">
                <a:solidFill>
                  <a:srgbClr val="0070C0"/>
                </a:solidFill>
                <a:latin typeface="Arial"/>
                <a:ea typeface="Arial"/>
                <a:cs typeface="Arial"/>
              </a:rPr>
              <a:t>class</a:t>
            </a:r>
            <a:r>
              <a:rPr lang="ru-RU" sz="20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0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Example:</a:t>
            </a:r>
            <a:endParaRPr sz="2000" b="0" i="0" u="none" strike="noStrike" cap="none" spc="0">
              <a:solidFill>
                <a:srgbClr val="C00000"/>
              </a:solidFill>
              <a:latin typeface="Arial"/>
              <a:cs typeface="Arial"/>
            </a:endParaRPr>
          </a:p>
          <a:p>
            <a:pPr marL="0" indent="0">
              <a:buSzPct val="125000"/>
              <a:buFont typeface="Arial"/>
              <a:buNone/>
              <a:defRPr/>
            </a:pPr>
            <a:r>
              <a:rPr lang="ru-RU" sz="2000" b="0" i="0" u="none" strike="noStrike" cap="none" spc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     pass</a:t>
            </a:r>
            <a:endParaRPr sz="2000" b="0" i="0" u="none" strike="noStrike" cap="none" spc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2041230057" name="Объект 4"/>
          <p:cNvSpPr>
            <a:spLocks noGrp="1"/>
          </p:cNvSpPr>
          <p:nvPr>
            <p:ph sz="half" idx="2"/>
          </p:nvPr>
        </p:nvSpPr>
        <p:spPr bwMode="auto">
          <a:xfrm>
            <a:off x="6909044" y="1755228"/>
            <a:ext cx="4760539" cy="3859154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indent="0">
              <a:buSzPct val="125000"/>
              <a:buFont typeface="Arial"/>
              <a:buNone/>
              <a:defRPr/>
            </a:pPr>
            <a:r>
              <a:rPr lang="ru-RU" sz="2000" b="0" i="0" u="none" strike="noStrike" cap="none" spc="0">
                <a:solidFill>
                  <a:srgbClr val="0070C0"/>
                </a:solidFill>
                <a:latin typeface="Arial"/>
                <a:ea typeface="Arial"/>
                <a:cs typeface="Arial"/>
              </a:rPr>
              <a:t>print(</a:t>
            </a:r>
            <a:r>
              <a:rPr lang="ru-RU" sz="20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Example.new_attribute</a:t>
            </a:r>
            <a:r>
              <a:rPr lang="ru-RU" sz="2000" b="0" i="0" u="none" strike="noStrike" cap="none" spc="0">
                <a:solidFill>
                  <a:srgbClr val="0070C0"/>
                </a:solidFill>
                <a:latin typeface="Arial"/>
                <a:ea typeface="Arial"/>
                <a:cs typeface="Arial"/>
              </a:rPr>
              <a:t>)</a:t>
            </a:r>
            <a:r>
              <a:rPr lang="ru-RU" sz="20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 </a:t>
            </a:r>
            <a:endParaRPr sz="2000" b="0" i="0" u="none" strike="noStrike" cap="none" spc="0">
              <a:solidFill>
                <a:srgbClr val="C00000"/>
              </a:solidFill>
              <a:latin typeface="Arial"/>
              <a:ea typeface="Arial"/>
              <a:cs typeface="Arial"/>
            </a:endParaRPr>
          </a:p>
          <a:p>
            <a:pPr marL="0" indent="0">
              <a:buSzPct val="125000"/>
              <a:buFont typeface="Arial"/>
              <a:buNone/>
              <a:defRPr/>
            </a:pPr>
            <a:r>
              <a:rPr lang="ru-RU" sz="2000" b="0" i="0" u="none" strike="noStrike" cap="none" spc="0">
                <a:solidFill>
                  <a:schemeClr val="bg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# Выведет: "I was added by a decorator"</a:t>
            </a:r>
            <a:endParaRPr sz="2000" b="0" i="0" u="none" strike="noStrike" cap="none" spc="0">
              <a:solidFill>
                <a:schemeClr val="bg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141413" y="618518"/>
            <a:ext cx="9905998" cy="1042116"/>
          </a:xfrm>
        </p:spPr>
        <p:txBody>
          <a:bodyPr/>
          <a:lstStyle/>
          <a:p>
            <a:pPr>
              <a:defRPr/>
            </a:pPr>
            <a:r>
              <a:rPr lang="ru-RU" b="1" cap="none">
                <a:solidFill>
                  <a:srgbClr val="002060"/>
                </a:solidFill>
                <a:latin typeface="Arial Black"/>
                <a:cs typeface="Arial"/>
              </a:rPr>
              <a:t>Главная проблема в ООП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1141412" y="1660634"/>
            <a:ext cx="9905999" cy="4130567"/>
          </a:xfrm>
          <a:prstGeom prst="rect">
            <a:avLst/>
          </a:prstGeom>
          <a:solidFill>
            <a:schemeClr val="tx1"/>
          </a:solidFill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ООП позволяет оптимизировать дальнейшую </a:t>
            </a: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поддержку 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разрабатываемого приложения, однако предполагает большую (больше, чем самого кода) роль предварительного </a:t>
            </a:r>
            <a:r>
              <a:rPr lang="ru-RU">
                <a:solidFill>
                  <a:srgbClr val="FF3300"/>
                </a:solidFill>
                <a:latin typeface="Arial"/>
                <a:cs typeface="Arial"/>
              </a:rPr>
              <a:t>анализа предметной области</a:t>
            </a:r>
            <a:r>
              <a:rPr lang="ru-RU">
                <a:solidFill>
                  <a:srgbClr val="002060"/>
                </a:solidFill>
                <a:latin typeface="Arial"/>
                <a:cs typeface="Arial"/>
              </a:rPr>
              <a:t> и проектирования.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Одна и та же задача может быть решена </a:t>
            </a:r>
            <a:r>
              <a:rPr lang="ru-RU">
                <a:solidFill>
                  <a:srgbClr val="FF3300"/>
                </a:solidFill>
              </a:rPr>
              <a:t>разными объектными моделями</a:t>
            </a:r>
            <a:r>
              <a:rPr lang="ru-RU">
                <a:solidFill>
                  <a:srgbClr val="002060"/>
                </a:solidFill>
              </a:rPr>
              <a:t>, каждая из которых будет иметь свои плюсы и минусы.</a:t>
            </a:r>
            <a:endParaRPr/>
          </a:p>
          <a:p>
            <a:pPr>
              <a:defRPr/>
            </a:pPr>
            <a:r>
              <a:rPr lang="ru-RU">
                <a:solidFill>
                  <a:srgbClr val="002060"/>
                </a:solidFill>
              </a:rPr>
              <a:t>Только опытный разработчик может сказать, </a:t>
            </a:r>
            <a:r>
              <a:rPr lang="ru-RU">
                <a:solidFill>
                  <a:srgbClr val="FF3300"/>
                </a:solidFill>
              </a:rPr>
              <a:t>какую из них </a:t>
            </a:r>
            <a:r>
              <a:rPr lang="ru-RU">
                <a:solidFill>
                  <a:srgbClr val="002060"/>
                </a:solidFill>
              </a:rPr>
              <a:t>будет проще расширять и обслуживать.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>
          <a:xfrm>
            <a:off x="1067841" y="2562931"/>
            <a:ext cx="9905998" cy="866069"/>
          </a:xfrm>
        </p:spPr>
        <p:txBody>
          <a:bodyPr/>
          <a:lstStyle/>
          <a:p>
            <a:pPr algn="ctr">
              <a:defRPr/>
            </a:pPr>
            <a:r>
              <a:rPr lang="ru-RU">
                <a:latin typeface="Arial Black"/>
              </a:rPr>
              <a:t>Спасибо за внимание!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Контур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Arial"/>
        <a:cs typeface="Arial"/>
      </a:majorFont>
      <a:minorFont>
        <a:latin typeface="Tw Cen MT"/>
        <a:ea typeface="Arial"/>
        <a:cs typeface="Arial"/>
      </a:minorFont>
    </a:fontScheme>
    <a:fmtScheme name="Circuit">
      <a:fillStyleLst>
        <a:solidFill>
          <a:schemeClr val="phClr"/>
        </a:solidFill>
        <a:gradFill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0</TotalTime>
  <Words>901</Words>
  <Application>Microsoft Office PowerPoint</Application>
  <DocSecurity>0</DocSecurity>
  <PresentationFormat>Произвольный</PresentationFormat>
  <Paragraphs>118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Контур</vt:lpstr>
      <vt:lpstr>ПРОГРАММИРОВАНИЕ В ЛИНГВИСТИКЕ Лекция 8  ОБЪЕКТЫ И КЛАССЫ</vt:lpstr>
      <vt:lpstr>Философия ООП в Python </vt:lpstr>
      <vt:lpstr>Зачем нужно ООП? </vt:lpstr>
      <vt:lpstr>Что такое класс и объект класса? </vt:lpstr>
      <vt:lpstr>Атрибуты и методы класса</vt:lpstr>
      <vt:lpstr>Определение класса в Python</vt:lpstr>
      <vt:lpstr>Создание объекта класса</vt:lpstr>
      <vt:lpstr>Удаление объекта класса</vt:lpstr>
      <vt:lpstr>Проверка принадлежности классу </vt:lpstr>
      <vt:lpstr>Инкапсуляция атрибутов</vt:lpstr>
      <vt:lpstr>Пример: увеличение пробега машины</vt:lpstr>
      <vt:lpstr>Абстракция</vt:lpstr>
      <vt:lpstr>Полиморфизм и перегрузка</vt:lpstr>
      <vt:lpstr>Пример: простой декоратор класса</vt:lpstr>
      <vt:lpstr>Главная проблема в ООП</vt:lpstr>
      <vt:lpstr>Спасибо за внимание!</vt:lpstr>
    </vt:vector>
  </TitlesOfParts>
  <Company>НИУ ВЭШ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в лингвистике Лекция 8  ОБЪЕКТЫ И КЛАССЫ</dc:title>
  <dc:creator>Моисеева Анна Юрьевна</dc:creator>
  <cp:lastModifiedBy>тусовочная</cp:lastModifiedBy>
  <cp:revision>50</cp:revision>
  <dcterms:created xsi:type="dcterms:W3CDTF">2026-05-13T19:08:40Z</dcterms:created>
  <dcterms:modified xsi:type="dcterms:W3CDTF">2026-05-15T06:26:03Z</dcterms:modified>
  <dc:identifier/>
  <dc:language/>
  <cp:version/>
</cp:coreProperties>
</file>